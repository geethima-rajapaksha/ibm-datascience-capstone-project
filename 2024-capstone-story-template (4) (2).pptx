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0" r:id="rId18"/>
    <p:sldId id="271" r:id="rId19"/>
    <p:sldId id="272" r:id="rId20"/>
    <p:sldId id="273" r:id="rId21"/>
    <p:sldId id="274" r:id="rId22"/>
    <p:sldId id="275" r:id="rId23"/>
  </p:sldIdLst>
  <p:sldSz cx="12192000" cy="6858000"/>
  <p:notesSz cx="6858000" cy="185737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79BA5-E70B-45CA-A157-B877B28B1AEA}" v="1" dt="2026-10-17T23:26:55.652"/>
    <p1510:client id="{A0E5D0A6-A805-41F0-B92E-B55FF2459E40}" v="997" dt="2026-10-17T23:09:54.229"/>
    <p1510:client id="{E15E7B31-1F94-4CF7-8436-7D8E85C0C6A4}" v="333" dt="2026-10-17T20:34:11.980"/>
    <p1510:client id="{E1DE8266-4AE4-4DCA-AA14-992BAD49DE55}" v="312" dt="2026-10-17T19:59:56.010"/>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44"/>
        <p:guide pos="28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a:solidFill>
                  <a:srgbClr val="FFFFFF"/>
                </a:solidFill>
                <a:effectLst/>
              </a:rPr>
              <a:t>Purple 40</a:t>
            </a:r>
            <a:endParaRPr lang="en-US" b="1">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a:solidFill>
                  <a:srgbClr val="FFFFFF"/>
                </a:solidFill>
              </a:rPr>
              <a:t>Magenta</a:t>
            </a:r>
            <a:r>
              <a:rPr lang="en-US" b="1" i="0">
                <a:solidFill>
                  <a:srgbClr val="FFFFFF"/>
                </a:solidFill>
                <a:effectLst/>
              </a:rPr>
              <a:t> 40</a:t>
            </a:r>
            <a:endParaRPr lang="en-US" b="1">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a:solidFill>
                  <a:srgbClr val="FFFFFF"/>
                </a:solidFill>
              </a:rPr>
              <a:t>Teal</a:t>
            </a:r>
            <a:r>
              <a:rPr lang="en-US" b="1" i="0">
                <a:solidFill>
                  <a:srgbClr val="FFFFFF"/>
                </a:solidFill>
                <a:effectLst/>
              </a:rPr>
              <a:t> 40</a:t>
            </a:r>
            <a:endParaRPr lang="en-US" b="1">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a:solidFill>
                  <a:srgbClr val="FFFFFF"/>
                </a:solidFill>
              </a:rPr>
              <a:t>Cyan</a:t>
            </a:r>
            <a:r>
              <a:rPr lang="en-US" b="1" i="0">
                <a:solidFill>
                  <a:srgbClr val="FFFFFF"/>
                </a:solidFill>
                <a:effectLst/>
              </a:rPr>
              <a:t> 40</a:t>
            </a:r>
            <a:endParaRPr lang="en-US" b="1">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a:solidFill>
                  <a:srgbClr val="FFFFFF"/>
                </a:solidFill>
                <a:effectLst/>
              </a:rPr>
              <a:t>Purple 60</a:t>
            </a:r>
            <a:endParaRPr lang="en-US" b="1">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a:solidFill>
                  <a:srgbClr val="FFFFFF"/>
                </a:solidFill>
              </a:rPr>
              <a:t>Magenta</a:t>
            </a:r>
            <a:r>
              <a:rPr lang="en-US" b="1" i="0">
                <a:solidFill>
                  <a:srgbClr val="FFFFFF"/>
                </a:solidFill>
                <a:effectLst/>
              </a:rPr>
              <a:t> 60</a:t>
            </a:r>
            <a:endParaRPr lang="en-US" b="1">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a:solidFill>
                  <a:srgbClr val="FFFFFF"/>
                </a:solidFill>
              </a:rPr>
              <a:t>Teal</a:t>
            </a:r>
            <a:r>
              <a:rPr lang="en-US" b="1" i="0">
                <a:solidFill>
                  <a:srgbClr val="FFFFFF"/>
                </a:solidFill>
                <a:effectLst/>
              </a:rPr>
              <a:t> 60</a:t>
            </a:r>
            <a:endParaRPr lang="en-US" b="1">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a:solidFill>
                  <a:srgbClr val="FFFFFF"/>
                </a:solidFill>
              </a:rPr>
              <a:t>Cyan</a:t>
            </a:r>
            <a:r>
              <a:rPr lang="en-US" b="1" i="0">
                <a:solidFill>
                  <a:srgbClr val="FFFFFF"/>
                </a:solidFill>
                <a:effectLst/>
              </a:rPr>
              <a:t> 60</a:t>
            </a:r>
            <a:endParaRPr lang="en-US" b="1">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bg2"/>
                </a:solidFill>
                <a:latin typeface="IBM Plex Sans" panose="020B0503050203000203" pitchFamily="34" charset="0"/>
              </a:rPr>
              <a:t>Icon</a:t>
            </a:r>
          </a:p>
          <a:p>
            <a:pPr algn="ctr"/>
            <a:r>
              <a:rPr lang="en-US">
                <a:solidFill>
                  <a:schemeClr val="bg2"/>
                </a:solidFill>
                <a:latin typeface="IBM Plex Sans" panose="020B0503050203000203" pitchFamily="34" charset="0"/>
              </a:rPr>
              <a:t>#</a:t>
            </a:r>
            <a:r>
              <a:rPr lang="en-US" b="0" i="0">
                <a:solidFill>
                  <a:srgbClr val="FFFFFF"/>
                </a:solidFill>
                <a:effectLst/>
                <a:latin typeface="IBM Plex Mono" panose="020B0509050203000203" pitchFamily="49" charset="0"/>
              </a:rPr>
              <a:t>000000</a:t>
            </a:r>
            <a:endParaRPr lang="en-US">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rgbClr val="262626"/>
                </a:solidFill>
                <a:latin typeface="IBM Plex Sans" panose="020B0503050203000203" pitchFamily="34" charset="0"/>
              </a:rPr>
              <a:t>Icon</a:t>
            </a:r>
          </a:p>
          <a:p>
            <a:pPr algn="ctr"/>
            <a:r>
              <a:rPr lang="en-US">
                <a:solidFill>
                  <a:srgbClr val="262626"/>
                </a:solidFill>
                <a:latin typeface="IBM Plex Sans" panose="020B0503050203000203" pitchFamily="34" charset="0"/>
              </a:rPr>
              <a:t>#</a:t>
            </a:r>
            <a:r>
              <a:rPr lang="en-US" b="0" i="0">
                <a:solidFill>
                  <a:srgbClr val="262626"/>
                </a:solidFill>
                <a:effectLst/>
                <a:latin typeface="IBM Plex Mono" panose="020B0509050203000203" pitchFamily="49" charset="0"/>
              </a:rPr>
              <a:t>FFFFFF</a:t>
            </a:r>
            <a:endParaRPr lang="en-US">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a:solidFill>
                  <a:srgbClr val="FFFFFF"/>
                </a:solidFill>
                <a:effectLst/>
              </a:rPr>
              <a:t>Purple 10</a:t>
            </a:r>
            <a:endParaRPr lang="en-US" b="1">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a:solidFill>
                  <a:srgbClr val="FFFFFF"/>
                </a:solidFill>
              </a:rPr>
              <a:t>Magenta</a:t>
            </a:r>
            <a:r>
              <a:rPr lang="en-US" b="1" i="0">
                <a:solidFill>
                  <a:srgbClr val="FFFFFF"/>
                </a:solidFill>
                <a:effectLst/>
              </a:rPr>
              <a:t> 10</a:t>
            </a:r>
            <a:endParaRPr lang="en-US" b="1">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a:solidFill>
                  <a:srgbClr val="FFFFFF"/>
                </a:solidFill>
              </a:rPr>
              <a:t>Teal</a:t>
            </a:r>
            <a:r>
              <a:rPr lang="en-US" b="1" i="0">
                <a:solidFill>
                  <a:srgbClr val="FFFFFF"/>
                </a:solidFill>
                <a:effectLst/>
              </a:rPr>
              <a:t> 10</a:t>
            </a:r>
            <a:endParaRPr lang="en-US" b="1">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a:solidFill>
                  <a:srgbClr val="FFFFFF"/>
                </a:solidFill>
              </a:rPr>
              <a:t>Cyan</a:t>
            </a:r>
            <a:r>
              <a:rPr lang="en-US" b="1" i="0">
                <a:solidFill>
                  <a:srgbClr val="FFFFFF"/>
                </a:solidFill>
                <a:effectLst/>
              </a:rPr>
              <a:t> 10</a:t>
            </a:r>
            <a:endParaRPr lang="en-US" b="1">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IBM Plex Sans" panose="020B0503050203000203" pitchFamily="34" charset="0"/>
              </a:rPr>
              <a:t>Text BG</a:t>
            </a:r>
          </a:p>
          <a:p>
            <a:pPr algn="ctr"/>
            <a:r>
              <a:rPr lang="en-US">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bg2"/>
                </a:solidFill>
                <a:latin typeface="IBM Plex Sans" panose="020B0503050203000203" pitchFamily="34" charset="0"/>
              </a:rPr>
              <a:t>Labels</a:t>
            </a:r>
          </a:p>
          <a:p>
            <a:pPr algn="ctr"/>
            <a:r>
              <a:rPr lang="en-US">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bg2"/>
                </a:solidFill>
                <a:latin typeface="IBM Plex Sans" panose="020B0503050203000203" pitchFamily="34" charset="0"/>
              </a:rPr>
              <a:t>Text</a:t>
            </a:r>
          </a:p>
          <a:p>
            <a:pPr algn="ctr"/>
            <a:r>
              <a:rPr lang="en-US">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5.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6.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6.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1172968" y="1469656"/>
            <a:ext cx="8766859" cy="2086345"/>
          </a:xfrm>
          <a:noFill/>
        </p:spPr>
        <p:txBody>
          <a:bodyPr/>
          <a:lstStyle/>
          <a:p>
            <a:r>
              <a:rPr lang="en-US" sz="3200">
                <a:latin typeface="IBM Plex Sans SemiBold"/>
              </a:rPr>
              <a:t>Predicting SpaceX Falcon 9 First-Stage Landing Success</a:t>
            </a:r>
            <a:endParaRPr lang="en-US" sz="3200"/>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2149390" y="3731247"/>
            <a:ext cx="6876037" cy="1655762"/>
          </a:xfrm>
          <a:noFill/>
        </p:spPr>
        <p:txBody>
          <a:bodyPr vert="horz" lIns="91440" tIns="45720" rIns="91440" bIns="45720" rtlCol="0" anchor="t">
            <a:normAutofit/>
          </a:bodyPr>
          <a:lstStyle/>
          <a:p>
            <a:r>
              <a:rPr lang="en-US" err="1">
                <a:latin typeface="IBM Plex Sans"/>
              </a:rPr>
              <a:t>Geethima</a:t>
            </a:r>
            <a:r>
              <a:rPr lang="en-US">
                <a:latin typeface="IBM Plex Sans"/>
              </a:rPr>
              <a:t> Rajapaksha </a:t>
            </a:r>
          </a:p>
          <a:p>
            <a:r>
              <a:rPr lang="en-US" sz="1800">
                <a:latin typeface="IBM Plex Sans"/>
              </a:rPr>
              <a:t>October 2026</a:t>
            </a:r>
            <a:endParaRPr lang="en-US" sz="1800"/>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a:t>Executive Summary</a:t>
            </a:r>
          </a:p>
          <a:p>
            <a:r>
              <a:rPr lang="en-US" sz="2200"/>
              <a:t>Introduction</a:t>
            </a:r>
          </a:p>
          <a:p>
            <a:r>
              <a:rPr lang="en-US" sz="2200"/>
              <a:t>Methodology</a:t>
            </a:r>
          </a:p>
          <a:p>
            <a:r>
              <a:rPr lang="en-US" sz="2200"/>
              <a:t>Results</a:t>
            </a:r>
          </a:p>
          <a:p>
            <a:pPr lvl="1"/>
            <a:r>
              <a:rPr lang="en-US" sz="1800"/>
              <a:t>Visualization – Charts</a:t>
            </a:r>
          </a:p>
          <a:p>
            <a:pPr lvl="1"/>
            <a:r>
              <a:rPr lang="en-US" sz="1800"/>
              <a:t>Dashboard</a:t>
            </a:r>
          </a:p>
          <a:p>
            <a:r>
              <a:rPr lang="en-US" sz="2200"/>
              <a:t>Discussion</a:t>
            </a:r>
          </a:p>
          <a:p>
            <a:pPr lvl="1"/>
            <a:r>
              <a:rPr lang="en-US" sz="1800"/>
              <a:t>Findings &amp; Implications</a:t>
            </a:r>
          </a:p>
          <a:p>
            <a:r>
              <a:rPr lang="en-US" sz="2200"/>
              <a:t>Conclusion</a:t>
            </a:r>
          </a:p>
          <a:p>
            <a:r>
              <a:rPr lang="en-US" sz="220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864936" y="1825624"/>
            <a:ext cx="10488864" cy="446544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200" b="1">
                <a:solidFill>
                  <a:srgbClr val="222222"/>
                </a:solidFill>
                <a:highlight>
                  <a:srgbClr val="FFFFFF"/>
                </a:highlight>
                <a:latin typeface="Arial"/>
                <a:cs typeface="Arial"/>
              </a:rPr>
              <a:t>Project Objective:</a:t>
            </a:r>
            <a:r>
              <a:rPr lang="en-US" sz="1200">
                <a:solidFill>
                  <a:srgbClr val="222222"/>
                </a:solidFill>
                <a:highlight>
                  <a:srgbClr val="FFFFFF"/>
                </a:highlight>
                <a:latin typeface="Arial"/>
                <a:cs typeface="Arial"/>
              </a:rPr>
              <a:t> Analyze historical SpaceX Falcon 9 launch data to identify key success factors and build predictive machine learning models to forecast first-stage landing success.</a:t>
            </a:r>
            <a:endParaRPr lang="en-US" sz="1200" dirty="0"/>
          </a:p>
          <a:p>
            <a:endParaRPr lang="en-US" sz="1200" dirty="0">
              <a:solidFill>
                <a:srgbClr val="222222"/>
              </a:solidFill>
              <a:highlight>
                <a:srgbClr val="FFFFFF"/>
              </a:highlight>
              <a:latin typeface="Arial"/>
              <a:cs typeface="Arial"/>
            </a:endParaRPr>
          </a:p>
          <a:p>
            <a:r>
              <a:rPr lang="en-US" sz="1200" dirty="0">
                <a:solidFill>
                  <a:srgbClr val="222222"/>
                </a:solidFill>
                <a:highlight>
                  <a:srgbClr val="FFFFFF"/>
                </a:highlight>
                <a:latin typeface="Arial"/>
                <a:cs typeface="Arial"/>
              </a:rPr>
              <a:t> </a:t>
            </a:r>
            <a:r>
              <a:rPr lang="en-US" sz="1200" b="1">
                <a:solidFill>
                  <a:srgbClr val="222222"/>
                </a:solidFill>
                <a:highlight>
                  <a:srgbClr val="FFFFFF"/>
                </a:highlight>
                <a:latin typeface="Arial"/>
                <a:cs typeface="Arial"/>
              </a:rPr>
              <a:t>Key Findings (EDA &amp; Visual Analytics):</a:t>
            </a:r>
            <a:endParaRPr lang="en-US" sz="1200" dirty="0"/>
          </a:p>
          <a:p>
            <a:pPr lvl="1"/>
            <a:r>
              <a:rPr lang="en-US" sz="1200">
                <a:solidFill>
                  <a:srgbClr val="222222"/>
                </a:solidFill>
                <a:highlight>
                  <a:srgbClr val="FFFFFF"/>
                </a:highlight>
                <a:latin typeface="Arial"/>
                <a:cs typeface="Arial"/>
              </a:rPr>
              <a:t>Launch success improved dramatically from </a:t>
            </a:r>
            <a:r>
              <a:rPr lang="en-US" sz="1200" b="1">
                <a:solidFill>
                  <a:srgbClr val="222222"/>
                </a:solidFill>
                <a:highlight>
                  <a:srgbClr val="FFFFFF"/>
                </a:highlight>
                <a:latin typeface="Arial"/>
                <a:cs typeface="Arial"/>
              </a:rPr>
              <a:t>0%</a:t>
            </a:r>
            <a:r>
              <a:rPr lang="en-US" sz="1200">
                <a:solidFill>
                  <a:srgbClr val="222222"/>
                </a:solidFill>
                <a:highlight>
                  <a:srgbClr val="FFFFFF"/>
                </a:highlight>
                <a:latin typeface="Arial"/>
                <a:cs typeface="Arial"/>
              </a:rPr>
              <a:t> (2010–2013) to approximately </a:t>
            </a:r>
            <a:r>
              <a:rPr lang="en-US" sz="1200" b="1">
                <a:solidFill>
                  <a:srgbClr val="222222"/>
                </a:solidFill>
                <a:highlight>
                  <a:srgbClr val="FFFFFF"/>
                </a:highlight>
                <a:latin typeface="Arial"/>
                <a:cs typeface="Arial"/>
              </a:rPr>
              <a:t>85%</a:t>
            </a:r>
            <a:r>
              <a:rPr lang="en-US" sz="1200">
                <a:solidFill>
                  <a:srgbClr val="222222"/>
                </a:solidFill>
                <a:highlight>
                  <a:srgbClr val="FFFFFF"/>
                </a:highlight>
                <a:latin typeface="Arial"/>
                <a:cs typeface="Arial"/>
              </a:rPr>
              <a:t> by 2019.</a:t>
            </a:r>
            <a:endParaRPr lang="en-US" sz="1200" dirty="0">
              <a:highlight>
                <a:srgbClr val="FFFFFF"/>
              </a:highlight>
              <a:latin typeface="Arial"/>
              <a:cs typeface="Arial"/>
            </a:endParaRPr>
          </a:p>
          <a:p>
            <a:pPr lvl="1"/>
            <a:r>
              <a:rPr lang="en-US" sz="1200" dirty="0">
                <a:solidFill>
                  <a:srgbClr val="222222"/>
                </a:solidFill>
                <a:highlight>
                  <a:srgbClr val="FFFFFF"/>
                </a:highlight>
                <a:latin typeface="Arial"/>
                <a:cs typeface="Arial"/>
              </a:rPr>
              <a:t> </a:t>
            </a:r>
            <a:r>
              <a:rPr lang="en-US" sz="1200" b="1">
                <a:solidFill>
                  <a:srgbClr val="222222"/>
                </a:solidFill>
                <a:highlight>
                  <a:srgbClr val="FFFFFF"/>
                </a:highlight>
                <a:latin typeface="Arial"/>
                <a:cs typeface="Arial"/>
              </a:rPr>
              <a:t>KSC LC-39A</a:t>
            </a:r>
            <a:r>
              <a:rPr lang="en-US" sz="1200">
                <a:solidFill>
                  <a:srgbClr val="222222"/>
                </a:solidFill>
                <a:highlight>
                  <a:srgbClr val="FFFFFF"/>
                </a:highlight>
                <a:latin typeface="Arial"/>
                <a:cs typeface="Arial"/>
              </a:rPr>
              <a:t> achieved the highest share of successful launches (41.7%).</a:t>
            </a:r>
            <a:endParaRPr lang="en-US" sz="1200" dirty="0">
              <a:highlight>
                <a:srgbClr val="FFFFFF"/>
              </a:highlight>
              <a:latin typeface="Arial"/>
              <a:cs typeface="Arial"/>
            </a:endParaRPr>
          </a:p>
          <a:p>
            <a:pPr lvl="1"/>
            <a:r>
              <a:rPr lang="en-US" sz="1200">
                <a:solidFill>
                  <a:srgbClr val="222222"/>
                </a:solidFill>
                <a:highlight>
                  <a:srgbClr val="FFFFFF"/>
                </a:highlight>
                <a:latin typeface="Arial"/>
                <a:cs typeface="Arial"/>
              </a:rPr>
              <a:t>Orbits such as </a:t>
            </a:r>
            <a:r>
              <a:rPr lang="en-US" sz="1200" b="1">
                <a:solidFill>
                  <a:srgbClr val="222222"/>
                </a:solidFill>
                <a:highlight>
                  <a:srgbClr val="FFFFFF"/>
                </a:highlight>
                <a:latin typeface="Arial"/>
                <a:cs typeface="Arial"/>
              </a:rPr>
              <a:t>ES-L1, GEO, HEO, and SSO</a:t>
            </a:r>
            <a:r>
              <a:rPr lang="en-US" sz="1200">
                <a:solidFill>
                  <a:srgbClr val="222222"/>
                </a:solidFill>
                <a:highlight>
                  <a:srgbClr val="FFFFFF"/>
                </a:highlight>
                <a:latin typeface="Arial"/>
                <a:cs typeface="Arial"/>
              </a:rPr>
              <a:t> maintained a 100% success rate, while heavy geostationary transfers (GTO) proved more challenging.</a:t>
            </a:r>
            <a:endParaRPr lang="en-US" sz="1200" dirty="0">
              <a:highlight>
                <a:srgbClr val="FFFFFF"/>
              </a:highlight>
              <a:latin typeface="Arial"/>
              <a:cs typeface="Arial"/>
            </a:endParaRPr>
          </a:p>
          <a:p>
            <a:pPr lvl="1"/>
            <a:endParaRPr lang="en-US" sz="1200" dirty="0">
              <a:highlight>
                <a:srgbClr val="FFFFFF"/>
              </a:highlight>
              <a:latin typeface="Arial"/>
              <a:cs typeface="Arial"/>
            </a:endParaRPr>
          </a:p>
          <a:p>
            <a:r>
              <a:rPr lang="en-US" sz="1200" b="1">
                <a:solidFill>
                  <a:srgbClr val="222222"/>
                </a:solidFill>
                <a:highlight>
                  <a:srgbClr val="FFFFFF"/>
                </a:highlight>
                <a:latin typeface="Arial"/>
                <a:cs typeface="Arial"/>
              </a:rPr>
              <a:t>Predictive Modeling Results:</a:t>
            </a:r>
            <a:endParaRPr lang="en-US" sz="1200">
              <a:solidFill>
                <a:srgbClr val="000000"/>
              </a:solidFill>
              <a:highlight>
                <a:srgbClr val="FFFFFF"/>
              </a:highlight>
              <a:latin typeface="Arial"/>
              <a:cs typeface="Arial"/>
            </a:endParaRPr>
          </a:p>
          <a:p>
            <a:pPr marL="628650" lvl="1" indent="-171450"/>
            <a:r>
              <a:rPr lang="en-US" sz="1200">
                <a:solidFill>
                  <a:srgbClr val="222222"/>
                </a:solidFill>
                <a:highlight>
                  <a:srgbClr val="FFFFFF"/>
                </a:highlight>
                <a:latin typeface="Arial"/>
                <a:cs typeface="Arial"/>
              </a:rPr>
              <a:t>All four classification models (</a:t>
            </a:r>
            <a:r>
              <a:rPr lang="en-US" sz="1200" b="1">
                <a:solidFill>
                  <a:srgbClr val="222222"/>
                </a:solidFill>
                <a:highlight>
                  <a:srgbClr val="FFFFFF"/>
                </a:highlight>
                <a:latin typeface="Arial"/>
                <a:cs typeface="Arial"/>
              </a:rPr>
              <a:t>Logistic Regression, SVM, Decision Tree, and KNN</a:t>
            </a:r>
            <a:r>
              <a:rPr lang="en-US" sz="1200">
                <a:solidFill>
                  <a:srgbClr val="222222"/>
                </a:solidFill>
                <a:highlight>
                  <a:srgbClr val="FFFFFF"/>
                </a:highlight>
                <a:latin typeface="Arial"/>
                <a:cs typeface="Arial"/>
              </a:rPr>
              <a:t>) achieved an identical test set accuracy of </a:t>
            </a:r>
            <a:r>
              <a:rPr lang="en-US" sz="1200" b="1">
                <a:solidFill>
                  <a:srgbClr val="222222"/>
                </a:solidFill>
                <a:highlight>
                  <a:srgbClr val="FFFFFF"/>
                </a:highlight>
                <a:latin typeface="Arial"/>
                <a:cs typeface="Arial"/>
              </a:rPr>
              <a:t>83.33%</a:t>
            </a:r>
            <a:r>
              <a:rPr lang="en-US" sz="1200">
                <a:solidFill>
                  <a:srgbClr val="222222"/>
                </a:solidFill>
                <a:highlight>
                  <a:srgbClr val="FFFFFF"/>
                </a:highlight>
                <a:latin typeface="Arial"/>
                <a:cs typeface="Arial"/>
              </a:rPr>
              <a:t>.</a:t>
            </a:r>
            <a:endParaRPr lang="en-US" sz="1200" dirty="0"/>
          </a:p>
          <a:p>
            <a:pPr marL="628650" lvl="1" indent="-171450"/>
            <a:endParaRPr lang="en-US" sz="1200" dirty="0">
              <a:solidFill>
                <a:srgbClr val="222222"/>
              </a:solidFill>
              <a:highlight>
                <a:srgbClr val="FFFFFF"/>
              </a:highlight>
              <a:latin typeface="Arial"/>
              <a:cs typeface="Arial"/>
            </a:endParaRPr>
          </a:p>
          <a:p>
            <a:pPr marL="628650" lvl="1" indent="-171450"/>
            <a:endParaRPr lang="en-US" sz="1200" dirty="0">
              <a:solidFill>
                <a:srgbClr val="222222"/>
              </a:solidFill>
              <a:highlight>
                <a:srgbClr val="FFFFFF"/>
              </a:highlight>
              <a:latin typeface="Arial"/>
              <a:cs typeface="Arial"/>
            </a:endParaRPr>
          </a:p>
          <a:p>
            <a:pPr marL="628650" lvl="1" indent="-171450"/>
            <a:r>
              <a:rPr lang="en-US" sz="1200" dirty="0">
                <a:solidFill>
                  <a:srgbClr val="222222"/>
                </a:solidFill>
                <a:highlight>
                  <a:srgbClr val="FFFFFF"/>
                </a:highlight>
                <a:latin typeface="Arial"/>
                <a:cs typeface="Arial"/>
              </a:rPr>
              <a:t> </a:t>
            </a:r>
            <a:r>
              <a:rPr lang="en-US" sz="1200" b="1">
                <a:solidFill>
                  <a:srgbClr val="222222"/>
                </a:solidFill>
                <a:highlight>
                  <a:srgbClr val="FFFFFF"/>
                </a:highlight>
                <a:latin typeface="Arial"/>
                <a:cs typeface="Arial"/>
              </a:rPr>
              <a:t>Business Value:</a:t>
            </a:r>
            <a:endParaRPr lang="en-US" sz="1200" dirty="0"/>
          </a:p>
          <a:p>
            <a:pPr lvl="2"/>
            <a:r>
              <a:rPr lang="en-US" sz="1200">
                <a:solidFill>
                  <a:srgbClr val="222222"/>
                </a:solidFill>
                <a:highlight>
                  <a:srgbClr val="FFFFFF"/>
                </a:highlight>
                <a:latin typeface="Arial"/>
                <a:cs typeface="Arial"/>
              </a:rPr>
              <a:t>Accurate landing predictions and booster reusability enable SpaceX to lower mission costs significantly (</a:t>
            </a:r>
            <a:r>
              <a:rPr lang="en-US" sz="1200" b="1">
                <a:solidFill>
                  <a:srgbClr val="222222"/>
                </a:solidFill>
                <a:highlight>
                  <a:srgbClr val="FFFFFF"/>
                </a:highlight>
                <a:latin typeface="Arial"/>
                <a:cs typeface="Arial"/>
              </a:rPr>
              <a:t>$62M</a:t>
            </a:r>
            <a:r>
              <a:rPr lang="en-US" sz="1200">
                <a:solidFill>
                  <a:srgbClr val="222222"/>
                </a:solidFill>
                <a:highlight>
                  <a:srgbClr val="FFFFFF"/>
                </a:highlight>
                <a:latin typeface="Arial"/>
                <a:cs typeface="Arial"/>
              </a:rPr>
              <a:t> vs. </a:t>
            </a:r>
            <a:r>
              <a:rPr lang="en-US" sz="1200" b="1">
                <a:solidFill>
                  <a:srgbClr val="222222"/>
                </a:solidFill>
                <a:highlight>
                  <a:srgbClr val="FFFFFF"/>
                </a:highlight>
                <a:latin typeface="Arial"/>
                <a:cs typeface="Arial"/>
              </a:rPr>
              <a:t>$165M</a:t>
            </a:r>
            <a:r>
              <a:rPr lang="en-US" sz="1200">
                <a:solidFill>
                  <a:srgbClr val="222222"/>
                </a:solidFill>
                <a:highlight>
                  <a:srgbClr val="FFFFFF"/>
                </a:highlight>
                <a:latin typeface="Arial"/>
                <a:cs typeface="Arial"/>
              </a:rPr>
              <a:t> market baseline), securing a major competitive advantage. </a:t>
            </a:r>
            <a:endParaRPr lang="en-US" sz="1200" dirty="0"/>
          </a:p>
          <a:p>
            <a:endParaRPr lang="en-US" sz="1200" dirty="0"/>
          </a:p>
        </p:txBody>
      </p:sp>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solidFill>
                  <a:schemeClr val="tx1"/>
                </a:solidFill>
                <a:latin typeface="IBM Plex Mono Text"/>
              </a:rPr>
              <a:t>SpaceX saves money by reusing the Falcon 9 first stage.</a:t>
            </a:r>
            <a:endParaRPr lang="en-US">
              <a:solidFill>
                <a:schemeClr val="tx1"/>
              </a:solidFill>
            </a:endParaRPr>
          </a:p>
          <a:p>
            <a:r>
              <a:rPr lang="en-US">
                <a:solidFill>
                  <a:schemeClr val="tx1"/>
                </a:solidFill>
                <a:latin typeface="IBM Plex Mono Text"/>
              </a:rPr>
              <a:t>Goal: predict whether the first stage will land successfully.</a:t>
            </a:r>
          </a:p>
          <a:p>
            <a:r>
              <a:rPr lang="en-US">
                <a:solidFill>
                  <a:schemeClr val="tx1"/>
                </a:solidFill>
                <a:latin typeface="IBM Plex Mono Text"/>
              </a:rPr>
              <a:t>Key Questions:</a:t>
            </a:r>
          </a:p>
          <a:p>
            <a:pPr lvl="1"/>
            <a:r>
              <a:rPr lang="en-US" sz="2800">
                <a:solidFill>
                  <a:schemeClr val="tx1"/>
                </a:solidFill>
                <a:latin typeface="IBM Plex Mono Text"/>
              </a:rPr>
              <a:t>Which factors affect landing success?</a:t>
            </a:r>
          </a:p>
          <a:p>
            <a:pPr lvl="1"/>
            <a:r>
              <a:rPr lang="en-US" sz="2800">
                <a:solidFill>
                  <a:schemeClr val="tx1"/>
                </a:solidFill>
                <a:latin typeface="IBM Plex Mono Text"/>
              </a:rPr>
              <a:t>Has the success rate improved over time?</a:t>
            </a:r>
          </a:p>
          <a:p>
            <a:pPr lvl="1"/>
            <a:r>
              <a:rPr lang="en-US" sz="2800">
                <a:solidFill>
                  <a:schemeClr val="tx1"/>
                </a:solidFill>
                <a:latin typeface="IBM Plex Mono Text"/>
              </a:rPr>
              <a:t>Which model predicts best?</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04113"/>
            <a:ext cx="7068725" cy="45817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a:latin typeface="IBM Plex Sans"/>
              </a:rPr>
              <a:t>Data collection</a:t>
            </a:r>
            <a:endParaRPr lang="en-US" sz="1600"/>
          </a:p>
          <a:p>
            <a:pPr lvl="1">
              <a:buFont typeface="Courier New"/>
              <a:buChar char="o"/>
            </a:pPr>
            <a:r>
              <a:rPr lang="en-US" sz="1600">
                <a:latin typeface="IBM Plex Sans"/>
              </a:rPr>
              <a:t>SpaceX REST API (requests + </a:t>
            </a:r>
            <a:r>
              <a:rPr lang="en-US" sz="1600" err="1">
                <a:latin typeface="IBM Plex Sans"/>
              </a:rPr>
              <a:t>json_normalize</a:t>
            </a:r>
            <a:r>
              <a:rPr lang="en-US" sz="1600">
                <a:latin typeface="IBM Plex Sans"/>
              </a:rPr>
              <a:t>)</a:t>
            </a:r>
          </a:p>
          <a:p>
            <a:pPr marL="742950" lvl="1" indent="-285750">
              <a:buFont typeface="Courier New"/>
              <a:buChar char="o"/>
            </a:pPr>
            <a:r>
              <a:rPr lang="en-US" sz="1600">
                <a:latin typeface="IBM Plex Sans"/>
              </a:rPr>
              <a:t>Filtered to Falcon 9 launches</a:t>
            </a:r>
          </a:p>
          <a:p>
            <a:r>
              <a:rPr lang="en-US" sz="1600">
                <a:latin typeface="IBM Plex Sans"/>
              </a:rPr>
              <a:t>Data Wrangling</a:t>
            </a:r>
            <a:endParaRPr lang="en-US" sz="1600"/>
          </a:p>
          <a:p>
            <a:pPr lvl="1">
              <a:buFont typeface="Courier New"/>
              <a:buChar char="o"/>
            </a:pPr>
            <a:r>
              <a:rPr lang="en-US" sz="1600">
                <a:latin typeface="IBM Plex Sans"/>
              </a:rPr>
              <a:t>Handled missing values </a:t>
            </a:r>
          </a:p>
          <a:p>
            <a:pPr lvl="1">
              <a:buFont typeface="Courier New"/>
              <a:buChar char="o"/>
            </a:pPr>
            <a:r>
              <a:rPr lang="en-US" sz="1600">
                <a:latin typeface="IBM Plex Sans"/>
              </a:rPr>
              <a:t>Created the class label(1=landed, 0=did not land)</a:t>
            </a:r>
            <a:endParaRPr lang="en-US" sz="1600"/>
          </a:p>
          <a:p>
            <a:r>
              <a:rPr lang="en-US" sz="1600">
                <a:latin typeface="IBM Plex Sans"/>
              </a:rPr>
              <a:t>Exploratory data analysis (EDA)</a:t>
            </a:r>
            <a:endParaRPr lang="en-US" sz="1600"/>
          </a:p>
          <a:p>
            <a:pPr lvl="1">
              <a:buFont typeface="Courier New"/>
              <a:buChar char="o"/>
            </a:pPr>
            <a:r>
              <a:rPr lang="en-US" sz="1600">
                <a:latin typeface="IBM Plex Sans"/>
              </a:rPr>
              <a:t>Visualizations(Matplotlib/seaborn) and SQL queries</a:t>
            </a:r>
          </a:p>
          <a:p>
            <a:r>
              <a:rPr lang="en-US" sz="1600">
                <a:latin typeface="IBM Plex Sans"/>
              </a:rPr>
              <a:t>Interactive visual analytics</a:t>
            </a:r>
            <a:endParaRPr lang="en-US" sz="1600"/>
          </a:p>
          <a:p>
            <a:pPr lvl="1">
              <a:buFont typeface="Courier New"/>
              <a:buChar char="o"/>
            </a:pPr>
            <a:r>
              <a:rPr lang="en-US" sz="1600">
                <a:latin typeface="IBM Plex Sans"/>
              </a:rPr>
              <a:t>Folium map and </a:t>
            </a:r>
            <a:r>
              <a:rPr lang="en-US" sz="1600" err="1">
                <a:latin typeface="IBM Plex Sans"/>
              </a:rPr>
              <a:t>Plotly</a:t>
            </a:r>
            <a:r>
              <a:rPr lang="en-US" sz="1600">
                <a:latin typeface="IBM Plex Sans"/>
              </a:rPr>
              <a:t> Dash dashboard</a:t>
            </a:r>
          </a:p>
          <a:p>
            <a:r>
              <a:rPr lang="en-US" sz="1600">
                <a:latin typeface="IBM Plex Sans"/>
              </a:rPr>
              <a:t>Predictive analysis (classification)</a:t>
            </a:r>
          </a:p>
          <a:p>
            <a:pPr lvl="1">
              <a:buFont typeface="Courier New"/>
              <a:buChar char="o"/>
            </a:pPr>
            <a:r>
              <a:rPr lang="en-US" sz="1600" err="1">
                <a:latin typeface="IBM Plex Sans"/>
              </a:rPr>
              <a:t>Standarized</a:t>
            </a:r>
            <a:r>
              <a:rPr lang="en-US" sz="1600">
                <a:latin typeface="IBM Plex Sans"/>
              </a:rPr>
              <a:t> data, train/test split</a:t>
            </a:r>
          </a:p>
          <a:p>
            <a:pPr lvl="1">
              <a:buFont typeface="Courier New"/>
              <a:buChar char="o"/>
            </a:pPr>
            <a:r>
              <a:rPr lang="en-US" sz="1600">
                <a:latin typeface="IBM Plex Sans"/>
              </a:rPr>
              <a:t>Tuned Logistic Regression, SVM, Decision Tree and KNN with </a:t>
            </a:r>
            <a:r>
              <a:rPr lang="en-US" sz="1600" err="1">
                <a:latin typeface="IBM Plex Sans"/>
              </a:rPr>
              <a:t>GridSearchCV</a:t>
            </a:r>
            <a:endParaRPr lang="en-US" sz="1600">
              <a:latin typeface="IBM Plex Sans"/>
            </a:endParaRPr>
          </a:p>
          <a:p>
            <a:pPr lvl="1">
              <a:buFont typeface="Courier New"/>
              <a:buChar char="o"/>
            </a:pPr>
            <a:endParaRPr lang="en-US" sz="1600">
              <a:latin typeface="IBM Plex Sans"/>
            </a:endParaRP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ctrTitle"/>
          </p:nvPr>
        </p:nvSpPr>
        <p:spPr>
          <a:xfrm>
            <a:off x="613873" y="654494"/>
            <a:ext cx="10964254" cy="376275"/>
          </a:xfrm>
        </p:spPr>
        <p:txBody>
          <a:bodyPr anchor="ctr">
            <a:normAutofit/>
          </a:bodyPr>
          <a:lstStyle/>
          <a:p>
            <a:pPr algn="l"/>
            <a:r>
              <a:rPr lang="en-US" sz="1800">
                <a:latin typeface="IBM Plex Sans SemiBold"/>
              </a:rPr>
              <a:t>RESULTS</a:t>
            </a:r>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1800"/>
          </a:p>
          <a:p>
            <a:pPr marL="0" indent="0">
              <a:buFont typeface="Arial"/>
              <a:buNone/>
            </a:pPr>
            <a:endParaRPr lang="en-US" sz="1800"/>
          </a:p>
          <a:p>
            <a:pPr marL="0" indent="0">
              <a:buFont typeface="Arial"/>
              <a:buNone/>
            </a:pPr>
            <a:endParaRPr lang="en-US" sz="1800"/>
          </a:p>
        </p:txBody>
      </p:sp>
      <p:sp>
        <p:nvSpPr>
          <p:cNvPr id="4" name="TextBox 3">
            <a:extLst>
              <a:ext uri="{FF2B5EF4-FFF2-40B4-BE49-F238E27FC236}">
                <a16:creationId xmlns:a16="http://schemas.microsoft.com/office/drawing/2014/main" id="{3A999168-42C6-84B6-2983-F28B18BF86CC}"/>
              </a:ext>
            </a:extLst>
          </p:cNvPr>
          <p:cNvSpPr txBox="1"/>
          <p:nvPr/>
        </p:nvSpPr>
        <p:spPr>
          <a:xfrm>
            <a:off x="3048000" y="342900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br>
              <a:rPr lang="en-US">
                <a:solidFill>
                  <a:srgbClr val="222222"/>
                </a:solidFill>
                <a:latin typeface="Arial"/>
                <a:ea typeface="Arial"/>
                <a:cs typeface="Arial"/>
              </a:rPr>
            </a:br>
            <a:endParaRPr lang="en-US" b="0" i="0">
              <a:solidFill>
                <a:srgbClr val="222222"/>
              </a:solidFill>
              <a:latin typeface="Arial"/>
              <a:ea typeface="Arial"/>
              <a:cs typeface="Arial"/>
            </a:endParaRPr>
          </a:p>
          <a:p>
            <a:pPr algn="ctr"/>
            <a:endParaRPr lang="en-US"/>
          </a:p>
        </p:txBody>
      </p:sp>
      <p:pic>
        <p:nvPicPr>
          <p:cNvPr id="10" name="Picture 9" descr="A graph of blue bars&#10;&#10;AI-generated content may be incorrect.">
            <a:extLst>
              <a:ext uri="{FF2B5EF4-FFF2-40B4-BE49-F238E27FC236}">
                <a16:creationId xmlns:a16="http://schemas.microsoft.com/office/drawing/2014/main" id="{E36BB304-323D-7403-AF2E-87088C2FB737}"/>
              </a:ext>
            </a:extLst>
          </p:cNvPr>
          <p:cNvPicPr>
            <a:picLocks noChangeAspect="1"/>
          </p:cNvPicPr>
          <p:nvPr/>
        </p:nvPicPr>
        <p:blipFill>
          <a:blip r:embed="rId3"/>
          <a:stretch>
            <a:fillRect/>
          </a:stretch>
        </p:blipFill>
        <p:spPr>
          <a:xfrm>
            <a:off x="480570" y="1318437"/>
            <a:ext cx="2707094" cy="2050313"/>
          </a:xfrm>
          <a:prstGeom prst="rect">
            <a:avLst/>
          </a:prstGeom>
        </p:spPr>
      </p:pic>
      <p:pic>
        <p:nvPicPr>
          <p:cNvPr id="13" name="Picture 12" descr="A graph of flight number&#10;&#10;AI-generated content may be incorrect.">
            <a:extLst>
              <a:ext uri="{FF2B5EF4-FFF2-40B4-BE49-F238E27FC236}">
                <a16:creationId xmlns:a16="http://schemas.microsoft.com/office/drawing/2014/main" id="{070145BD-ABDB-7FCF-FC21-17D494249B25}"/>
              </a:ext>
            </a:extLst>
          </p:cNvPr>
          <p:cNvPicPr>
            <a:picLocks noChangeAspect="1"/>
          </p:cNvPicPr>
          <p:nvPr/>
        </p:nvPicPr>
        <p:blipFill>
          <a:blip r:embed="rId4"/>
          <a:stretch>
            <a:fillRect/>
          </a:stretch>
        </p:blipFill>
        <p:spPr>
          <a:xfrm>
            <a:off x="310114" y="3996840"/>
            <a:ext cx="4944143" cy="1549039"/>
          </a:xfrm>
          <a:prstGeom prst="rect">
            <a:avLst/>
          </a:prstGeom>
        </p:spPr>
      </p:pic>
      <p:pic>
        <p:nvPicPr>
          <p:cNvPr id="14" name="Picture 13">
            <a:extLst>
              <a:ext uri="{FF2B5EF4-FFF2-40B4-BE49-F238E27FC236}">
                <a16:creationId xmlns:a16="http://schemas.microsoft.com/office/drawing/2014/main" id="{F3BD24D3-AB95-A747-99B0-9239A9A9E121}"/>
              </a:ext>
            </a:extLst>
          </p:cNvPr>
          <p:cNvPicPr>
            <a:picLocks noChangeAspect="1"/>
          </p:cNvPicPr>
          <p:nvPr/>
        </p:nvPicPr>
        <p:blipFill>
          <a:blip r:embed="rId5"/>
          <a:stretch>
            <a:fillRect/>
          </a:stretch>
        </p:blipFill>
        <p:spPr>
          <a:xfrm>
            <a:off x="6184604" y="4005702"/>
            <a:ext cx="4572001" cy="1531317"/>
          </a:xfrm>
          <a:prstGeom prst="rect">
            <a:avLst/>
          </a:prstGeom>
        </p:spPr>
      </p:pic>
      <p:pic>
        <p:nvPicPr>
          <p:cNvPr id="15" name="Picture 14" descr="A line graph with numbers and lines&#10;&#10;AI-generated content may be incorrect.">
            <a:extLst>
              <a:ext uri="{FF2B5EF4-FFF2-40B4-BE49-F238E27FC236}">
                <a16:creationId xmlns:a16="http://schemas.microsoft.com/office/drawing/2014/main" id="{D4ED9E3B-BFB2-B876-D112-597893110156}"/>
              </a:ext>
            </a:extLst>
          </p:cNvPr>
          <p:cNvPicPr>
            <a:picLocks noChangeAspect="1"/>
          </p:cNvPicPr>
          <p:nvPr/>
        </p:nvPicPr>
        <p:blipFill>
          <a:blip r:embed="rId6"/>
          <a:stretch>
            <a:fillRect/>
          </a:stretch>
        </p:blipFill>
        <p:spPr>
          <a:xfrm>
            <a:off x="6186710" y="1141228"/>
            <a:ext cx="3469094" cy="2590800"/>
          </a:xfrm>
          <a:prstGeom prst="rect">
            <a:avLst/>
          </a:prstGeom>
        </p:spPr>
      </p:pic>
      <p:sp>
        <p:nvSpPr>
          <p:cNvPr id="16" name="TextBox 15">
            <a:extLst>
              <a:ext uri="{FF2B5EF4-FFF2-40B4-BE49-F238E27FC236}">
                <a16:creationId xmlns:a16="http://schemas.microsoft.com/office/drawing/2014/main" id="{A0A094F3-114C-4FC6-C700-B5D59F666CAF}"/>
              </a:ext>
            </a:extLst>
          </p:cNvPr>
          <p:cNvSpPr txBox="1"/>
          <p:nvPr/>
        </p:nvSpPr>
        <p:spPr>
          <a:xfrm>
            <a:off x="713462" y="101233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Success rate by orbit</a:t>
            </a:r>
          </a:p>
        </p:txBody>
      </p:sp>
      <p:sp>
        <p:nvSpPr>
          <p:cNvPr id="17" name="TextBox 16">
            <a:extLst>
              <a:ext uri="{FF2B5EF4-FFF2-40B4-BE49-F238E27FC236}">
                <a16:creationId xmlns:a16="http://schemas.microsoft.com/office/drawing/2014/main" id="{93F9EFF2-EBF7-7B42-DE1C-EE239FAD83BC}"/>
              </a:ext>
            </a:extLst>
          </p:cNvPr>
          <p:cNvSpPr txBox="1"/>
          <p:nvPr/>
        </p:nvSpPr>
        <p:spPr>
          <a:xfrm>
            <a:off x="6463776" y="87242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Success rate by year</a:t>
            </a:r>
          </a:p>
        </p:txBody>
      </p:sp>
      <p:sp>
        <p:nvSpPr>
          <p:cNvPr id="19" name="TextBox 18">
            <a:extLst>
              <a:ext uri="{FF2B5EF4-FFF2-40B4-BE49-F238E27FC236}">
                <a16:creationId xmlns:a16="http://schemas.microsoft.com/office/drawing/2014/main" id="{5DA894E8-7497-7532-BCC0-9B12C740C984}"/>
              </a:ext>
            </a:extLst>
          </p:cNvPr>
          <p:cNvSpPr txBox="1"/>
          <p:nvPr/>
        </p:nvSpPr>
        <p:spPr>
          <a:xfrm>
            <a:off x="713660" y="3581544"/>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Flight Number vs Launch Site</a:t>
            </a:r>
          </a:p>
        </p:txBody>
      </p:sp>
      <p:sp>
        <p:nvSpPr>
          <p:cNvPr id="20" name="TextBox 19">
            <a:extLst>
              <a:ext uri="{FF2B5EF4-FFF2-40B4-BE49-F238E27FC236}">
                <a16:creationId xmlns:a16="http://schemas.microsoft.com/office/drawing/2014/main" id="{CCAFF395-5DF5-DB73-D89C-672B47F2F6FE}"/>
              </a:ext>
            </a:extLst>
          </p:cNvPr>
          <p:cNvSpPr txBox="1"/>
          <p:nvPr/>
        </p:nvSpPr>
        <p:spPr>
          <a:xfrm>
            <a:off x="6553122" y="368467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Payload Mass vs Launch Site</a:t>
            </a:r>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pPr algn="ctr"/>
            <a:r>
              <a:rPr lang="en-US" sz="2800">
                <a:latin typeface="IBM Plex Sans SemiBold"/>
              </a:rPr>
              <a:t> EDA WITH SQL</a:t>
            </a:r>
            <a:endParaRPr lang="en-US" sz="2800"/>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40396" y="1825625"/>
            <a:ext cx="3079248" cy="1503170"/>
          </a:xfrm>
        </p:spPr>
        <p:txBody>
          <a:bodyPr vert="horz" lIns="91440" tIns="45720" rIns="91440" bIns="45720" rtlCol="0" anchor="t">
            <a:noAutofit/>
          </a:bodyPr>
          <a:lstStyle/>
          <a:p>
            <a:pPr marL="0" indent="0">
              <a:buNone/>
            </a:pPr>
            <a:endParaRPr lang="en-US" sz="1800" b="1"/>
          </a:p>
          <a:p>
            <a:pPr marL="0" indent="0">
              <a:buNone/>
            </a:pPr>
            <a:r>
              <a:rPr lang="en-US" sz="2000" b="1">
                <a:latin typeface="IBM Plex Sans"/>
              </a:rPr>
              <a:t>Query 1: </a:t>
            </a:r>
            <a:endParaRPr lang="en-US" sz="2000"/>
          </a:p>
          <a:p>
            <a:pPr marL="0" indent="0">
              <a:buNone/>
            </a:pPr>
            <a:r>
              <a:rPr lang="en-US" sz="2000">
                <a:latin typeface="IBM Plex Sans"/>
              </a:rPr>
              <a:t>SpaceX uses 4 launch sites</a:t>
            </a:r>
            <a:endParaRPr lang="en-US" sz="2000"/>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01318" y="1825625"/>
            <a:ext cx="4301093" cy="1334821"/>
          </a:xfrm>
        </p:spPr>
        <p:txBody>
          <a:bodyPr vert="horz" lIns="91440" tIns="45720" rIns="91440" bIns="45720" rtlCol="0" anchor="t">
            <a:normAutofit/>
          </a:bodyPr>
          <a:lstStyle/>
          <a:p>
            <a:pPr marL="0" indent="0">
              <a:buNone/>
            </a:pPr>
            <a:endParaRPr lang="en-US" sz="1800" b="1">
              <a:latin typeface="IBM Plex Sans"/>
            </a:endParaRPr>
          </a:p>
          <a:p>
            <a:pPr marL="0" indent="0">
              <a:buNone/>
            </a:pPr>
            <a:r>
              <a:rPr lang="en-US" sz="2000" b="1">
                <a:latin typeface="IBM Plex Sans"/>
              </a:rPr>
              <a:t>Query 2:</a:t>
            </a:r>
            <a:r>
              <a:rPr lang="en-US" sz="1800">
                <a:latin typeface="IBM Plex Sans"/>
              </a:rPr>
              <a:t> </a:t>
            </a:r>
          </a:p>
          <a:p>
            <a:pPr marL="0" indent="0">
              <a:buNone/>
            </a:pPr>
            <a:r>
              <a:rPr lang="en-US" sz="1800">
                <a:latin typeface="IBM Plex Sans"/>
              </a:rPr>
              <a:t>Landing outcomes</a:t>
            </a:r>
          </a:p>
        </p:txBody>
      </p:sp>
      <p:graphicFrame>
        <p:nvGraphicFramePr>
          <p:cNvPr id="3" name="Table 2">
            <a:extLst>
              <a:ext uri="{FF2B5EF4-FFF2-40B4-BE49-F238E27FC236}">
                <a16:creationId xmlns:a16="http://schemas.microsoft.com/office/drawing/2014/main" id="{75A7EFCC-F313-2BBF-3912-1B3528BED777}"/>
              </a:ext>
            </a:extLst>
          </p:cNvPr>
          <p:cNvGraphicFramePr>
            <a:graphicFrameLocks noGrp="1"/>
          </p:cNvGraphicFramePr>
          <p:nvPr>
            <p:extLst>
              <p:ext uri="{D42A27DB-BD31-4B8C-83A1-F6EECF244321}">
                <p14:modId xmlns:p14="http://schemas.microsoft.com/office/powerpoint/2010/main" val="4194341247"/>
              </p:ext>
            </p:extLst>
          </p:nvPr>
        </p:nvGraphicFramePr>
        <p:xfrm>
          <a:off x="841744" y="3429000"/>
          <a:ext cx="2592741" cy="1677680"/>
        </p:xfrm>
        <a:graphic>
          <a:graphicData uri="http://schemas.openxmlformats.org/drawingml/2006/table">
            <a:tbl>
              <a:tblPr bandRow="1">
                <a:tableStyleId>{5C22544A-7EE6-4342-B048-85BDC9FD1C3A}</a:tableStyleId>
              </a:tblPr>
              <a:tblGrid>
                <a:gridCol w="2592741">
                  <a:extLst>
                    <a:ext uri="{9D8B030D-6E8A-4147-A177-3AD203B41FA5}">
                      <a16:colId xmlns:a16="http://schemas.microsoft.com/office/drawing/2014/main" val="2519630050"/>
                    </a:ext>
                  </a:extLst>
                </a:gridCol>
              </a:tblGrid>
              <a:tr h="335536">
                <a:tc>
                  <a:txBody>
                    <a:bodyPr/>
                    <a:lstStyle/>
                    <a:p>
                      <a:pPr marL="0" marR="0" algn="l" fontAlgn="ctr">
                        <a:buNone/>
                      </a:pPr>
                      <a:r>
                        <a:rPr lang="en-US" sz="1400" b="1" i="0" err="1">
                          <a:effectLst/>
                          <a:latin typeface="system-ui"/>
                        </a:rPr>
                        <a:t>Launch_Site</a:t>
                      </a:r>
                    </a:p>
                  </a:txBody>
                  <a:tcPr anchor="ctr">
                    <a:lnL>
                      <a:noFill/>
                    </a:lnL>
                    <a:lnR>
                      <a:noFill/>
                    </a:lnR>
                    <a:lnT>
                      <a:noFill/>
                    </a:lnT>
                    <a:lnB>
                      <a:noFill/>
                    </a:lnB>
                    <a:solidFill>
                      <a:srgbClr val="FFFFFF"/>
                    </a:solidFill>
                  </a:tcPr>
                </a:tc>
                <a:extLst>
                  <a:ext uri="{0D108BD9-81ED-4DB2-BD59-A6C34878D82A}">
                    <a16:rowId xmlns:a16="http://schemas.microsoft.com/office/drawing/2014/main" val="1522389985"/>
                  </a:ext>
                </a:extLst>
              </a:tr>
              <a:tr h="335536">
                <a:tc>
                  <a:txBody>
                    <a:bodyPr/>
                    <a:lstStyle/>
                    <a:p>
                      <a:pPr marL="0" marR="0" algn="l" fontAlgn="ctr">
                        <a:buNone/>
                      </a:pPr>
                      <a:r>
                        <a:rPr lang="en-US" sz="1400" b="0" i="0">
                          <a:effectLst/>
                          <a:latin typeface="system-ui"/>
                        </a:rPr>
                        <a:t>CCAFS LC-40</a:t>
                      </a:r>
                    </a:p>
                  </a:txBody>
                  <a:tcPr anchor="ctr">
                    <a:lnL>
                      <a:noFill/>
                    </a:lnL>
                    <a:lnR>
                      <a:noFill/>
                    </a:lnR>
                    <a:lnT>
                      <a:noFill/>
                    </a:lnT>
                    <a:lnB>
                      <a:noFill/>
                    </a:lnB>
                    <a:solidFill>
                      <a:srgbClr val="FFFFFF"/>
                    </a:solidFill>
                  </a:tcPr>
                </a:tc>
                <a:extLst>
                  <a:ext uri="{0D108BD9-81ED-4DB2-BD59-A6C34878D82A}">
                    <a16:rowId xmlns:a16="http://schemas.microsoft.com/office/drawing/2014/main" val="4029291945"/>
                  </a:ext>
                </a:extLst>
              </a:tr>
              <a:tr h="335536">
                <a:tc>
                  <a:txBody>
                    <a:bodyPr/>
                    <a:lstStyle/>
                    <a:p>
                      <a:pPr marL="0" marR="0" algn="l" fontAlgn="ctr">
                        <a:buNone/>
                      </a:pPr>
                      <a:r>
                        <a:rPr lang="en-US" sz="1400" b="0" i="0">
                          <a:effectLst/>
                          <a:latin typeface="system-ui"/>
                        </a:rPr>
                        <a:t>VAFB SLC-4E</a:t>
                      </a:r>
                    </a:p>
                  </a:txBody>
                  <a:tcPr anchor="ctr">
                    <a:lnL>
                      <a:noFill/>
                    </a:lnL>
                    <a:lnR>
                      <a:noFill/>
                    </a:lnR>
                    <a:lnT>
                      <a:noFill/>
                    </a:lnT>
                    <a:lnB>
                      <a:noFill/>
                    </a:lnB>
                    <a:solidFill>
                      <a:srgbClr val="FFFFFF"/>
                    </a:solidFill>
                  </a:tcPr>
                </a:tc>
                <a:extLst>
                  <a:ext uri="{0D108BD9-81ED-4DB2-BD59-A6C34878D82A}">
                    <a16:rowId xmlns:a16="http://schemas.microsoft.com/office/drawing/2014/main" val="1994743731"/>
                  </a:ext>
                </a:extLst>
              </a:tr>
              <a:tr h="335536">
                <a:tc>
                  <a:txBody>
                    <a:bodyPr/>
                    <a:lstStyle/>
                    <a:p>
                      <a:pPr marL="0" marR="0" algn="l" fontAlgn="ctr">
                        <a:buNone/>
                      </a:pPr>
                      <a:r>
                        <a:rPr lang="en-US" sz="1400" b="0" i="0">
                          <a:effectLst/>
                          <a:latin typeface="system-ui"/>
                        </a:rPr>
                        <a:t>KSC LC-39A</a:t>
                      </a:r>
                    </a:p>
                  </a:txBody>
                  <a:tcPr anchor="ctr">
                    <a:lnL>
                      <a:noFill/>
                    </a:lnL>
                    <a:lnR>
                      <a:noFill/>
                    </a:lnR>
                    <a:lnT>
                      <a:noFill/>
                    </a:lnT>
                    <a:lnB>
                      <a:noFill/>
                    </a:lnB>
                    <a:solidFill>
                      <a:srgbClr val="FFFFFF"/>
                    </a:solidFill>
                  </a:tcPr>
                </a:tc>
                <a:extLst>
                  <a:ext uri="{0D108BD9-81ED-4DB2-BD59-A6C34878D82A}">
                    <a16:rowId xmlns:a16="http://schemas.microsoft.com/office/drawing/2014/main" val="3698721459"/>
                  </a:ext>
                </a:extLst>
              </a:tr>
              <a:tr h="335536">
                <a:tc>
                  <a:txBody>
                    <a:bodyPr/>
                    <a:lstStyle/>
                    <a:p>
                      <a:pPr marL="0" marR="0" algn="l" fontAlgn="ctr">
                        <a:buNone/>
                      </a:pPr>
                      <a:r>
                        <a:rPr lang="en-US" sz="1400" b="0" i="0">
                          <a:effectLst/>
                          <a:latin typeface="system-ui"/>
                        </a:rPr>
                        <a:t>CCAFS SLC-40</a:t>
                      </a:r>
                    </a:p>
                  </a:txBody>
                  <a:tcPr anchor="ctr">
                    <a:lnL>
                      <a:noFill/>
                    </a:lnL>
                    <a:lnR>
                      <a:noFill/>
                    </a:lnR>
                    <a:lnT>
                      <a:noFill/>
                    </a:lnT>
                    <a:lnB>
                      <a:noFill/>
                    </a:lnB>
                    <a:solidFill>
                      <a:srgbClr val="FFFFFF"/>
                    </a:solidFill>
                  </a:tcPr>
                </a:tc>
                <a:extLst>
                  <a:ext uri="{0D108BD9-81ED-4DB2-BD59-A6C34878D82A}">
                    <a16:rowId xmlns:a16="http://schemas.microsoft.com/office/drawing/2014/main" val="3308495223"/>
                  </a:ext>
                </a:extLst>
              </a:tr>
            </a:tbl>
          </a:graphicData>
        </a:graphic>
      </p:graphicFrame>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033168"/>
          </a:xfrm>
        </p:spPr>
        <p:txBody>
          <a:bodyPr>
            <a:normAutofit/>
          </a:bodyPr>
          <a:lstStyle/>
          <a:p>
            <a:r>
              <a:rPr lang="en-US" sz="2800">
                <a:latin typeface="IBM Plex Sans SemiBold"/>
              </a:rPr>
              <a:t> INTERACTIVE MAP WITH FOLIUM</a:t>
            </a:r>
            <a:endParaRPr lang="en-US" sz="2800"/>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40397" y="1568672"/>
            <a:ext cx="3267741" cy="869176"/>
          </a:xfrm>
        </p:spPr>
        <p:txBody>
          <a:bodyPr vert="horz" lIns="91440" tIns="45720" rIns="91440" bIns="45720" rtlCol="0" anchor="t">
            <a:normAutofit/>
          </a:bodyPr>
          <a:lstStyle/>
          <a:p>
            <a:pPr marL="0" indent="0">
              <a:buNone/>
            </a:pPr>
            <a:r>
              <a:rPr lang="en-US" sz="1200">
                <a:latin typeface="IBM Plex Sans"/>
              </a:rPr>
              <a:t>Findings</a:t>
            </a:r>
          </a:p>
          <a:p>
            <a:r>
              <a:rPr lang="en-US" sz="1200">
                <a:latin typeface="IBM Plex Sans"/>
              </a:rPr>
              <a:t>All </a:t>
            </a:r>
            <a:r>
              <a:rPr lang="en-US" sz="1200" err="1">
                <a:latin typeface="IBM Plex Sans"/>
              </a:rPr>
              <a:t>4 launch</a:t>
            </a:r>
            <a:r>
              <a:rPr lang="en-US" sz="1200">
                <a:latin typeface="IBM Plex Sans"/>
              </a:rPr>
              <a:t> sites are on the US coast</a:t>
            </a:r>
          </a:p>
          <a:p>
            <a:r>
              <a:rPr lang="en-US" sz="1200">
                <a:latin typeface="IBM Plex Sans"/>
              </a:rPr>
              <a:t>1 is in California and 3 are in Florida</a:t>
            </a:r>
          </a:p>
          <a:p>
            <a:pPr marL="0" indent="0">
              <a:buNone/>
            </a:pPr>
            <a:endParaRPr lang="en-US" sz="1200">
              <a:latin typeface="IBM Plex Sans"/>
            </a:endParaRP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092457" y="1568672"/>
            <a:ext cx="4995529" cy="1037525"/>
          </a:xfrm>
        </p:spPr>
        <p:txBody>
          <a:bodyPr vert="horz" lIns="91440" tIns="45720" rIns="91440" bIns="45720" rtlCol="0" anchor="t">
            <a:normAutofit/>
          </a:bodyPr>
          <a:lstStyle/>
          <a:p>
            <a:pPr marL="0" indent="0">
              <a:buNone/>
            </a:pPr>
            <a:r>
              <a:rPr lang="en-US" sz="1200">
                <a:latin typeface="IBM Plex Sans"/>
              </a:rPr>
              <a:t>Implications</a:t>
            </a:r>
          </a:p>
          <a:p>
            <a:r>
              <a:rPr lang="en-US" sz="1200">
                <a:latin typeface="IBM Plex Sans"/>
              </a:rPr>
              <a:t>Launching over </a:t>
            </a:r>
            <a:r>
              <a:rPr lang="en-US" sz="1200" err="1">
                <a:latin typeface="IBM Plex Sans"/>
              </a:rPr>
              <a:t>th</a:t>
            </a:r>
            <a:r>
              <a:rPr lang="en-US" sz="1200">
                <a:latin typeface="IBM Plex Sans"/>
              </a:rPr>
              <a:t>e ocean keeps debris away from populated areas.</a:t>
            </a:r>
            <a:endParaRPr lang="en-US" sz="1200"/>
          </a:p>
          <a:p>
            <a:r>
              <a:rPr lang="en-US" sz="1200">
                <a:latin typeface="IBM Plex Sans"/>
              </a:rPr>
              <a:t>Southern sites get a speed boost from Earth's </a:t>
            </a:r>
            <a:r>
              <a:rPr lang="en-US" sz="1200" err="1">
                <a:latin typeface="IBM Plex Sans"/>
              </a:rPr>
              <a:t>rotatio</a:t>
            </a:r>
            <a:r>
              <a:rPr lang="en-US" sz="1200">
                <a:latin typeface="IBM Plex Sans"/>
              </a:rPr>
              <a:t>n</a:t>
            </a:r>
          </a:p>
          <a:p>
            <a:pPr marL="0" indent="0">
              <a:buNone/>
            </a:pPr>
            <a:endParaRPr lang="en-US" sz="1200">
              <a:latin typeface="IBM Plex Sans"/>
            </a:endParaRPr>
          </a:p>
        </p:txBody>
      </p:sp>
      <p:pic>
        <p:nvPicPr>
          <p:cNvPr id="6" name="Picture 5" descr="A map of the united states&#10;&#10;AI-generated content may be incorrect.">
            <a:extLst>
              <a:ext uri="{FF2B5EF4-FFF2-40B4-BE49-F238E27FC236}">
                <a16:creationId xmlns:a16="http://schemas.microsoft.com/office/drawing/2014/main" id="{4D1E380A-202A-C0CB-AFF6-88758F9105F7}"/>
              </a:ext>
            </a:extLst>
          </p:cNvPr>
          <p:cNvPicPr>
            <a:picLocks noChangeAspect="1"/>
          </p:cNvPicPr>
          <p:nvPr/>
        </p:nvPicPr>
        <p:blipFill>
          <a:blip r:embed="rId3"/>
          <a:stretch>
            <a:fillRect/>
          </a:stretch>
        </p:blipFill>
        <p:spPr>
          <a:xfrm>
            <a:off x="2894822" y="2604976"/>
            <a:ext cx="5941613" cy="3588490"/>
          </a:xfrm>
          <a:prstGeom prst="rect">
            <a:avLst/>
          </a:prstGeom>
        </p:spPr>
      </p:pic>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44864" y="428768"/>
            <a:ext cx="10533320" cy="997726"/>
          </a:xfrm>
        </p:spPr>
        <p:txBody>
          <a:bodyPr/>
          <a:lstStyle/>
          <a:p>
            <a:r>
              <a:rPr lang="en-US">
                <a:latin typeface="IBM Plex Sans SemiBold"/>
              </a:rPr>
              <a:t>LAUNCH SUCCESS BY SITE(FOLIUM)</a:t>
            </a:r>
            <a:endParaRPr lang="en-US"/>
          </a:p>
        </p:txBody>
      </p:sp>
      <p:pic>
        <p:nvPicPr>
          <p:cNvPr id="11" name="Content Placeholder 10" descr="A map with a location on it&#10;&#10;AI-generated content may be incorrect.">
            <a:extLst>
              <a:ext uri="{FF2B5EF4-FFF2-40B4-BE49-F238E27FC236}">
                <a16:creationId xmlns:a16="http://schemas.microsoft.com/office/drawing/2014/main" id="{929E3234-86AA-A3A7-0719-F9BCA4127B32}"/>
              </a:ext>
            </a:extLst>
          </p:cNvPr>
          <p:cNvPicPr>
            <a:picLocks noGrp="1" noChangeAspect="1"/>
          </p:cNvPicPr>
          <p:nvPr>
            <p:ph sz="half" idx="2"/>
          </p:nvPr>
        </p:nvPicPr>
        <p:blipFill>
          <a:blip r:embed="rId3"/>
          <a:stretch>
            <a:fillRect/>
          </a:stretch>
        </p:blipFill>
        <p:spPr>
          <a:xfrm>
            <a:off x="696433" y="2198330"/>
            <a:ext cx="5181600" cy="3145367"/>
          </a:xfrm>
          <a:prstGeom prst="rect">
            <a:avLst/>
          </a:prstGeom>
        </p:spPr>
      </p:pic>
      <p:sp>
        <p:nvSpPr>
          <p:cNvPr id="10" name="Content Placeholder 9">
            <a:extLst>
              <a:ext uri="{FF2B5EF4-FFF2-40B4-BE49-F238E27FC236}">
                <a16:creationId xmlns:a16="http://schemas.microsoft.com/office/drawing/2014/main" id="{51152EF9-6D12-6A88-0191-468F67C610F3}"/>
              </a:ext>
            </a:extLst>
          </p:cNvPr>
          <p:cNvSpPr>
            <a:spLocks noGrp="1"/>
          </p:cNvSpPr>
          <p:nvPr>
            <p:ph sz="half" idx="1"/>
          </p:nvPr>
        </p:nvSpPr>
        <p:spPr/>
        <p:txBody>
          <a:bodyPr vert="horz" lIns="91440" tIns="45720" rIns="91440" bIns="45720" rtlCol="0" anchor="t">
            <a:normAutofit/>
          </a:bodyPr>
          <a:lstStyle/>
          <a:p>
            <a:r>
              <a:rPr lang="en-US" sz="1200">
                <a:latin typeface="IBM Plex Sans"/>
              </a:rPr>
              <a:t>KSCLC-39A has 13 launches; CCAFS sites have 33. Green = success, red = failure.</a:t>
            </a:r>
            <a:endParaRPr lang="en-US" sz="1200"/>
          </a:p>
        </p:txBody>
      </p:sp>
      <p:pic>
        <p:nvPicPr>
          <p:cNvPr id="12" name="Picture 11" descr="A map of a city&#10;&#10;AI-generated content may be incorrect.">
            <a:extLst>
              <a:ext uri="{FF2B5EF4-FFF2-40B4-BE49-F238E27FC236}">
                <a16:creationId xmlns:a16="http://schemas.microsoft.com/office/drawing/2014/main" id="{455DC6C1-E76B-B066-C2B9-2333FAC47F2F}"/>
              </a:ext>
            </a:extLst>
          </p:cNvPr>
          <p:cNvPicPr>
            <a:picLocks noChangeAspect="1"/>
          </p:cNvPicPr>
          <p:nvPr/>
        </p:nvPicPr>
        <p:blipFill>
          <a:blip r:embed="rId4"/>
          <a:stretch>
            <a:fillRect/>
          </a:stretch>
        </p:blipFill>
        <p:spPr>
          <a:xfrm>
            <a:off x="6342542" y="2203044"/>
            <a:ext cx="5159893" cy="3151891"/>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810985" y="365125"/>
            <a:ext cx="11376331" cy="1343283"/>
          </a:xfrm>
        </p:spPr>
        <p:txBody>
          <a:bodyPr/>
          <a:lstStyle/>
          <a:p>
            <a:r>
              <a:rPr lang="en-US">
                <a:latin typeface="IBM Plex Sans SemiBold"/>
              </a:rPr>
              <a:t>LAUNCH SITE PROXIMITIES(FOLIUM)</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vert="horz" lIns="91440" tIns="45720" rIns="91440" bIns="45720" rtlCol="0" anchor="t">
            <a:normAutofit/>
          </a:bodyPr>
          <a:lstStyle/>
          <a:p>
            <a:pPr marL="0" indent="0">
              <a:buNone/>
            </a:pPr>
            <a:r>
              <a:rPr lang="en-US" sz="1200">
                <a:latin typeface="IBM Plex Sans"/>
              </a:rPr>
              <a:t>Findings</a:t>
            </a:r>
          </a:p>
          <a:p>
            <a:r>
              <a:rPr lang="en-US" sz="1200">
                <a:latin typeface="IBM Plex Sans"/>
              </a:rPr>
              <a:t>CCAFS is about 0.5km from the coast</a:t>
            </a:r>
          </a:p>
          <a:p>
            <a:r>
              <a:rPr lang="en-US" sz="1200">
                <a:latin typeface="IBM Plex Sans"/>
              </a:rPr>
              <a:t>It is close to a </a:t>
            </a:r>
            <a:r>
              <a:rPr lang="en-US" sz="1200" err="1">
                <a:latin typeface="IBM Plex Sans"/>
              </a:rPr>
              <a:t>hightway</a:t>
            </a:r>
            <a:r>
              <a:rPr lang="en-US" sz="1200">
                <a:latin typeface="IBM Plex Sans"/>
              </a:rPr>
              <a:t> (0.58km) and a railway (1.25km)</a:t>
            </a:r>
          </a:p>
          <a:p>
            <a:r>
              <a:rPr lang="en-US" sz="1200">
                <a:latin typeface="IBM Plex Sans"/>
              </a:rPr>
              <a:t>The nearest city is about 53 km away</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vert="horz" lIns="91440" tIns="45720" rIns="91440" bIns="45720" rtlCol="0" anchor="t">
            <a:normAutofit/>
          </a:bodyPr>
          <a:lstStyle/>
          <a:p>
            <a:pPr marL="0" indent="0">
              <a:buNone/>
            </a:pPr>
            <a:r>
              <a:rPr lang="en-US" sz="1200">
                <a:latin typeface="IBM Plex Sans"/>
              </a:rPr>
              <a:t>Implications</a:t>
            </a:r>
          </a:p>
          <a:p>
            <a:r>
              <a:rPr lang="en-US" sz="1200">
                <a:latin typeface="IBM Plex Sans"/>
              </a:rPr>
              <a:t>Coastal sites let rockets launch over the ocean, away from people</a:t>
            </a:r>
            <a:endParaRPr lang="en-US" sz="1200"/>
          </a:p>
          <a:p>
            <a:r>
              <a:rPr lang="en-US" sz="1200">
                <a:latin typeface="IBM Plex Sans"/>
              </a:rPr>
              <a:t>Roads and rails make it easy to move rockets and equipment</a:t>
            </a:r>
          </a:p>
          <a:p>
            <a:r>
              <a:rPr lang="en-US" sz="1200">
                <a:latin typeface="IBM Plex Sans"/>
              </a:rPr>
              <a:t>Distance from cities limits the risk if a launch fails</a:t>
            </a:r>
          </a:p>
        </p:txBody>
      </p:sp>
      <p:pic>
        <p:nvPicPr>
          <p:cNvPr id="5" name="Picture 4" descr="A map with orange circle&#10;&#10;AI-generated content may be incorrect.">
            <a:extLst>
              <a:ext uri="{FF2B5EF4-FFF2-40B4-BE49-F238E27FC236}">
                <a16:creationId xmlns:a16="http://schemas.microsoft.com/office/drawing/2014/main" id="{49731224-C0B8-9257-14F0-FDCA46870B97}"/>
              </a:ext>
            </a:extLst>
          </p:cNvPr>
          <p:cNvPicPr>
            <a:picLocks noChangeAspect="1"/>
          </p:cNvPicPr>
          <p:nvPr/>
        </p:nvPicPr>
        <p:blipFill>
          <a:blip r:embed="rId3"/>
          <a:stretch>
            <a:fillRect/>
          </a:stretch>
        </p:blipFill>
        <p:spPr>
          <a:xfrm>
            <a:off x="817528" y="3101161"/>
            <a:ext cx="5169780" cy="3074583"/>
          </a:xfrm>
          <a:prstGeom prst="rect">
            <a:avLst/>
          </a:prstGeom>
        </p:spPr>
      </p:pic>
      <p:pic>
        <p:nvPicPr>
          <p:cNvPr id="6" name="Picture 5" descr="A map of a city&#10;&#10;AI-generated content may be incorrect.">
            <a:extLst>
              <a:ext uri="{FF2B5EF4-FFF2-40B4-BE49-F238E27FC236}">
                <a16:creationId xmlns:a16="http://schemas.microsoft.com/office/drawing/2014/main" id="{D1A6C8A0-42C0-FF25-14CE-2422EADDE60C}"/>
              </a:ext>
            </a:extLst>
          </p:cNvPr>
          <p:cNvPicPr>
            <a:picLocks noChangeAspect="1"/>
          </p:cNvPicPr>
          <p:nvPr/>
        </p:nvPicPr>
        <p:blipFill>
          <a:blip r:embed="rId4"/>
          <a:stretch>
            <a:fillRect/>
          </a:stretch>
        </p:blipFill>
        <p:spPr>
          <a:xfrm>
            <a:off x="6301307" y="3101161"/>
            <a:ext cx="5056292" cy="3065722"/>
          </a:xfrm>
          <a:prstGeom prst="rect">
            <a:avLst/>
          </a:prstGeom>
        </p:spPr>
      </p:pic>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953540" y="2140977"/>
            <a:ext cx="7068725" cy="256923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a:latin typeface="IBM Plex Sans"/>
              </a:rPr>
              <a:t>ithub.com/</a:t>
            </a:r>
            <a:r>
              <a:rPr lang="en-US" sz="2200" err="1">
                <a:latin typeface="IBM Plex Sans"/>
              </a:rPr>
              <a:t>Geethima</a:t>
            </a:r>
            <a:r>
              <a:rPr lang="en-US" sz="2200">
                <a:latin typeface="IBM Plex Sans"/>
              </a:rPr>
              <a:t>-Rajapaksha/</a:t>
            </a:r>
            <a:r>
              <a:rPr lang="en-US" sz="2200" err="1">
                <a:latin typeface="IBM Plex Sans"/>
              </a:rPr>
              <a:t>ibm</a:t>
            </a:r>
            <a:r>
              <a:rPr lang="en-US" sz="2200">
                <a:latin typeface="IBM Plex Sans"/>
              </a:rPr>
              <a:t>-</a:t>
            </a:r>
            <a:r>
              <a:rPr lang="en-US" sz="2200" err="1">
                <a:latin typeface="IBM Plex Sans"/>
              </a:rPr>
              <a:t>datascience</a:t>
            </a:r>
            <a:r>
              <a:rPr lang="en-US" sz="2200">
                <a:latin typeface="IBM Plex Sans"/>
              </a:rPr>
              <a:t>-capstone-project/tree/Build-an-Interactive-Dashboard-with-Plotly-Dash</a:t>
            </a:r>
            <a:endParaRPr lang="en-US">
              <a:latin typeface="IBM Plex Sans"/>
            </a:endParaRP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a:t>DASHBOARD TAB 1</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a:p>
          <a:p>
            <a:pPr marL="0" indent="0">
              <a:buNone/>
            </a:pPr>
            <a:endParaRPr lang="en-US"/>
          </a:p>
        </p:txBody>
      </p:sp>
      <p:pic>
        <p:nvPicPr>
          <p:cNvPr id="4" name="Picture 3">
            <a:extLst>
              <a:ext uri="{FF2B5EF4-FFF2-40B4-BE49-F238E27FC236}">
                <a16:creationId xmlns:a16="http://schemas.microsoft.com/office/drawing/2014/main" id="{A1894780-C0A5-0207-9453-711D538C56CD}"/>
              </a:ext>
            </a:extLst>
          </p:cNvPr>
          <p:cNvPicPr>
            <a:picLocks noChangeAspect="1"/>
          </p:cNvPicPr>
          <p:nvPr/>
        </p:nvPicPr>
        <p:blipFill>
          <a:blip r:embed="rId3"/>
          <a:stretch>
            <a:fillRect/>
          </a:stretch>
        </p:blipFill>
        <p:spPr>
          <a:xfrm>
            <a:off x="930348" y="1727133"/>
            <a:ext cx="10260420" cy="4148012"/>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a:t>DASHBOARD TAB 2</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a:p>
          <a:p>
            <a:pPr marL="0" indent="0">
              <a:buNone/>
            </a:pPr>
            <a:endParaRPr lang="en-US"/>
          </a:p>
        </p:txBody>
      </p:sp>
      <p:pic>
        <p:nvPicPr>
          <p:cNvPr id="5" name="Picture 4">
            <a:extLst>
              <a:ext uri="{FF2B5EF4-FFF2-40B4-BE49-F238E27FC236}">
                <a16:creationId xmlns:a16="http://schemas.microsoft.com/office/drawing/2014/main" id="{B781D75E-D45B-92BF-9613-180418745A93}"/>
              </a:ext>
            </a:extLst>
          </p:cNvPr>
          <p:cNvPicPr>
            <a:picLocks noChangeAspect="1"/>
          </p:cNvPicPr>
          <p:nvPr/>
        </p:nvPicPr>
        <p:blipFill>
          <a:blip r:embed="rId3"/>
          <a:stretch>
            <a:fillRect/>
          </a:stretch>
        </p:blipFill>
        <p:spPr>
          <a:xfrm>
            <a:off x="841744" y="1731986"/>
            <a:ext cx="10508512" cy="4023120"/>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a:latin typeface="IBM Plex Sans SemiBold"/>
              </a:rPr>
              <a:t>DISCUSSION/ FINDINGS</a:t>
            </a:r>
            <a:endParaRPr lang="en-US"/>
          </a:p>
        </p:txBody>
      </p:sp>
      <p:sp>
        <p:nvSpPr>
          <p:cNvPr id="6" name="Content Placeholder 5">
            <a:extLst>
              <a:ext uri="{FF2B5EF4-FFF2-40B4-BE49-F238E27FC236}">
                <a16:creationId xmlns:a16="http://schemas.microsoft.com/office/drawing/2014/main" id="{C92EA509-C7E9-A875-6A86-D0A519C13FD8}"/>
              </a:ext>
            </a:extLst>
          </p:cNvPr>
          <p:cNvSpPr>
            <a:spLocks noGrp="1"/>
          </p:cNvSpPr>
          <p:nvPr>
            <p:ph sz="half" idx="2"/>
          </p:nvPr>
        </p:nvSpPr>
        <p:spPr/>
        <p:txBody>
          <a:bodyPr vert="horz" lIns="91440" tIns="45720" rIns="91440" bIns="45720" rtlCol="0" anchor="t">
            <a:normAutofit/>
          </a:bodyPr>
          <a:lstStyle/>
          <a:p>
            <a:pPr marL="0" indent="0">
              <a:buNone/>
            </a:pPr>
            <a:r>
              <a:rPr lang="en-US" sz="2400">
                <a:solidFill>
                  <a:srgbClr val="222222"/>
                </a:solidFill>
                <a:highlight>
                  <a:srgbClr val="FFFFFF"/>
                </a:highlight>
                <a:latin typeface="IBM Plex Sans"/>
                <a:cs typeface="Arial"/>
              </a:rPr>
              <a:t>Implications:</a:t>
            </a:r>
            <a:endParaRPr lang="en-US">
              <a:latin typeface="IBM Plex Sans"/>
            </a:endParaRPr>
          </a:p>
          <a:p>
            <a:pPr marL="342900" indent="-342900"/>
            <a:r>
              <a:rPr lang="en-US" sz="2400" dirty="0">
                <a:solidFill>
                  <a:srgbClr val="222222"/>
                </a:solidFill>
                <a:highlight>
                  <a:srgbClr val="FFFFFF"/>
                </a:highlight>
                <a:latin typeface="IBM Plex Sans"/>
                <a:cs typeface="Arial"/>
              </a:rPr>
              <a:t> </a:t>
            </a:r>
            <a:r>
              <a:rPr lang="en-US" sz="2000">
                <a:solidFill>
                  <a:srgbClr val="222222"/>
                </a:solidFill>
                <a:highlight>
                  <a:srgbClr val="FFFFFF"/>
                </a:highlight>
                <a:latin typeface="IBM Plex Sans"/>
                <a:cs typeface="Arial"/>
              </a:rPr>
              <a:t>Safety Protocol: Coastal launch sites direct debris over the ocean, minimizing risk to populated areas.</a:t>
            </a:r>
            <a:endParaRPr lang="en-US" sz="2000">
              <a:latin typeface="IBM Plex Sans"/>
            </a:endParaRPr>
          </a:p>
          <a:p>
            <a:pPr marL="342900" indent="-342900"/>
            <a:r>
              <a:rPr lang="en-US" sz="2000">
                <a:solidFill>
                  <a:srgbClr val="222222"/>
                </a:solidFill>
                <a:highlight>
                  <a:srgbClr val="FFFFFF"/>
                </a:highlight>
                <a:latin typeface="IBM Plex Sans"/>
                <a:cs typeface="Arial"/>
              </a:rPr>
              <a:t> Cost Advantage: Reusable boosters dramatically reduce spaceflight costs ($62M SpaceX vs $165M competitor baseline).</a:t>
            </a:r>
            <a:endParaRPr lang="en-US" sz="2000">
              <a:latin typeface="IBM Plex Sans"/>
            </a:endParaRPr>
          </a:p>
          <a:p>
            <a:pPr marL="342900" indent="-342900"/>
            <a:r>
              <a:rPr lang="en-US" sz="2000">
                <a:solidFill>
                  <a:srgbClr val="222222"/>
                </a:solidFill>
                <a:highlight>
                  <a:srgbClr val="FFFFFF"/>
                </a:highlight>
                <a:latin typeface="IBM Plex Sans"/>
                <a:cs typeface="Arial"/>
              </a:rPr>
              <a:t> Key Factors: Launch site, payload mass, and booster version are essential predictive variables for landing success.</a:t>
            </a:r>
            <a:endParaRPr lang="en-US" sz="2000">
              <a:latin typeface="IBM Plex Sans"/>
            </a:endParaRPr>
          </a:p>
          <a:p>
            <a:pPr marL="0" indent="0">
              <a:buNone/>
            </a:pPr>
            <a:br>
              <a:rPr lang="en-US" dirty="0"/>
            </a:br>
            <a:endParaRPr lang="en-US" sz="2000"/>
          </a:p>
        </p:txBody>
      </p:sp>
      <p:sp>
        <p:nvSpPr>
          <p:cNvPr id="10" name="Content Placeholder 9">
            <a:extLst>
              <a:ext uri="{FF2B5EF4-FFF2-40B4-BE49-F238E27FC236}">
                <a16:creationId xmlns:a16="http://schemas.microsoft.com/office/drawing/2014/main" id="{E0AC103D-3F3F-3309-421E-DC9D8FCFF186}"/>
              </a:ext>
            </a:extLst>
          </p:cNvPr>
          <p:cNvSpPr>
            <a:spLocks noGrp="1"/>
          </p:cNvSpPr>
          <p:nvPr>
            <p:ph sz="half" idx="1"/>
          </p:nvPr>
        </p:nvSpPr>
        <p:spPr/>
        <p:txBody>
          <a:bodyPr vert="horz" lIns="91440" tIns="45720" rIns="91440" bIns="45720" rtlCol="0" anchor="t">
            <a:normAutofit/>
          </a:bodyPr>
          <a:lstStyle/>
          <a:p>
            <a:pPr marL="0" indent="0">
              <a:buNone/>
            </a:pPr>
            <a:r>
              <a:rPr lang="en-US" sz="2400">
                <a:latin typeface="IBM Plex Sans"/>
              </a:rPr>
              <a:t>Finding</a:t>
            </a:r>
            <a:endParaRPr lang="en-US" sz="2400"/>
          </a:p>
          <a:p>
            <a:r>
              <a:rPr lang="en-US" sz="2000" dirty="0">
                <a:solidFill>
                  <a:srgbClr val="222222"/>
                </a:solidFill>
                <a:highlight>
                  <a:srgbClr val="FFFFFF"/>
                </a:highlight>
                <a:latin typeface="Arial"/>
                <a:cs typeface="Arial"/>
              </a:rPr>
              <a:t>  </a:t>
            </a:r>
            <a:r>
              <a:rPr lang="en-US" sz="2000" b="1">
                <a:solidFill>
                  <a:srgbClr val="222222"/>
                </a:solidFill>
                <a:highlight>
                  <a:srgbClr val="FFFFFF"/>
                </a:highlight>
                <a:latin typeface="IBM Plex Sans"/>
                <a:cs typeface="Arial"/>
              </a:rPr>
              <a:t>KSC LC-39A Leader:</a:t>
            </a:r>
            <a:r>
              <a:rPr lang="en-US" sz="2000">
                <a:solidFill>
                  <a:srgbClr val="222222"/>
                </a:solidFill>
                <a:highlight>
                  <a:srgbClr val="FFFFFF"/>
                </a:highlight>
                <a:latin typeface="IBM Plex Sans"/>
                <a:cs typeface="Arial"/>
              </a:rPr>
              <a:t> KSC LC-39A had the highest proportion of successful launches at </a:t>
            </a:r>
            <a:r>
              <a:rPr lang="en-US" sz="2000" b="1">
                <a:solidFill>
                  <a:srgbClr val="222222"/>
                </a:solidFill>
                <a:highlight>
                  <a:srgbClr val="FFFFFF"/>
                </a:highlight>
                <a:latin typeface="IBM Plex Sans"/>
                <a:cs typeface="Arial"/>
              </a:rPr>
              <a:t>41.7%</a:t>
            </a:r>
            <a:r>
              <a:rPr lang="en-US" sz="2000">
                <a:solidFill>
                  <a:srgbClr val="222222"/>
                </a:solidFill>
                <a:highlight>
                  <a:srgbClr val="FFFFFF"/>
                </a:highlight>
                <a:latin typeface="IBM Plex Sans"/>
                <a:cs typeface="Arial"/>
              </a:rPr>
              <a:t>.</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Success Trajectory:</a:t>
            </a:r>
            <a:r>
              <a:rPr lang="en-US" sz="2000">
                <a:solidFill>
                  <a:srgbClr val="222222"/>
                </a:solidFill>
                <a:highlight>
                  <a:srgbClr val="FFFFFF"/>
                </a:highlight>
                <a:latin typeface="IBM Plex Sans"/>
                <a:cs typeface="Arial"/>
              </a:rPr>
              <a:t> Landing success rate increased significantly from </a:t>
            </a:r>
            <a:r>
              <a:rPr lang="en-US" sz="2000" b="1">
                <a:solidFill>
                  <a:srgbClr val="222222"/>
                </a:solidFill>
                <a:highlight>
                  <a:srgbClr val="FFFFFF"/>
                </a:highlight>
                <a:latin typeface="IBM Plex Sans"/>
                <a:cs typeface="Arial"/>
              </a:rPr>
              <a:t>0%</a:t>
            </a:r>
            <a:r>
              <a:rPr lang="en-US" sz="2000" dirty="0">
                <a:solidFill>
                  <a:srgbClr val="222222"/>
                </a:solidFill>
                <a:highlight>
                  <a:srgbClr val="FFFFFF"/>
                </a:highlight>
                <a:latin typeface="IBM Plex Sans"/>
                <a:cs typeface="Arial"/>
              </a:rPr>
              <a:t> </a:t>
            </a:r>
            <a:r>
              <a:rPr lang="en-US" sz="2000">
                <a:solidFill>
                  <a:srgbClr val="222222"/>
                </a:solidFill>
                <a:highlight>
                  <a:srgbClr val="FFFFFF"/>
                </a:highlight>
                <a:latin typeface="IBM Plex Sans"/>
                <a:cs typeface="Arial"/>
              </a:rPr>
              <a:t>(2010–2013) to </a:t>
            </a:r>
            <a:r>
              <a:rPr lang="en-US" sz="2000" b="1">
                <a:solidFill>
                  <a:srgbClr val="222222"/>
                </a:solidFill>
                <a:highlight>
                  <a:srgbClr val="FFFFFF"/>
                </a:highlight>
                <a:latin typeface="IBM Plex Sans"/>
                <a:cs typeface="Arial"/>
              </a:rPr>
              <a:t>~85%</a:t>
            </a:r>
            <a:r>
              <a:rPr lang="en-US" sz="2000">
                <a:solidFill>
                  <a:srgbClr val="222222"/>
                </a:solidFill>
                <a:highlight>
                  <a:srgbClr val="FFFFFF"/>
                </a:highlight>
                <a:latin typeface="IBM Plex Sans"/>
                <a:cs typeface="Arial"/>
              </a:rPr>
              <a:t> by 2019.</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Geographic Strategic Location:</a:t>
            </a:r>
            <a:r>
              <a:rPr lang="en-US" sz="2000">
                <a:solidFill>
                  <a:srgbClr val="222222"/>
                </a:solidFill>
                <a:highlight>
                  <a:srgbClr val="FFFFFF"/>
                </a:highlight>
                <a:latin typeface="IBM Plex Sans"/>
                <a:cs typeface="Arial"/>
              </a:rPr>
              <a:t> All launch sites are located on US coasts, situated </a:t>
            </a:r>
            <a:r>
              <a:rPr lang="en-US" sz="2000" b="1">
                <a:solidFill>
                  <a:srgbClr val="222222"/>
                </a:solidFill>
                <a:highlight>
                  <a:srgbClr val="FFFFFF"/>
                </a:highlight>
                <a:latin typeface="IBM Plex Sans"/>
                <a:cs typeface="Arial"/>
              </a:rPr>
              <a:t>~0.5 km</a:t>
            </a:r>
            <a:r>
              <a:rPr lang="en-US" sz="2000">
                <a:solidFill>
                  <a:srgbClr val="222222"/>
                </a:solidFill>
                <a:highlight>
                  <a:srgbClr val="FFFFFF"/>
                </a:highlight>
                <a:latin typeface="IBM Plex Sans"/>
                <a:cs typeface="Arial"/>
              </a:rPr>
              <a:t> from the nearest city (CCAFS). </a:t>
            </a:r>
            <a:endParaRPr lang="en-US" sz="2000">
              <a:latin typeface="IBM Plex Sans"/>
            </a:endParaRPr>
          </a:p>
          <a:p>
            <a:endParaRPr lang="en-US" sz="20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900224" y="320823"/>
            <a:ext cx="10533320" cy="953423"/>
          </a:xfrm>
        </p:spPr>
        <p:txBody>
          <a:bodyPr>
            <a:normAutofit/>
          </a:bodyPr>
          <a:lstStyle/>
          <a:p>
            <a:pPr marL="228600" indent="-228600">
              <a:spcBef>
                <a:spcPts val="1000"/>
              </a:spcBef>
            </a:pPr>
            <a:endParaRPr lang="en-US" sz="2400" dirty="0">
              <a:solidFill>
                <a:srgbClr val="222222"/>
              </a:solidFill>
              <a:highlight>
                <a:srgbClr val="FFFFFF"/>
              </a:highlight>
              <a:latin typeface="Arial"/>
              <a:cs typeface="Arial"/>
            </a:endParaRPr>
          </a:p>
          <a:p>
            <a:r>
              <a:rPr lang="en-US" sz="2800">
                <a:latin typeface="IBM Plex Sans SemiBold"/>
              </a:rPr>
              <a:t>DATA PREPARATION AND PIPELINE</a:t>
            </a:r>
            <a:endParaRPr lang="en-US" sz="2800"/>
          </a:p>
        </p:txBody>
      </p:sp>
      <p:sp>
        <p:nvSpPr>
          <p:cNvPr id="6" name="Content Placeholder 5">
            <a:extLst>
              <a:ext uri="{FF2B5EF4-FFF2-40B4-BE49-F238E27FC236}">
                <a16:creationId xmlns:a16="http://schemas.microsoft.com/office/drawing/2014/main" id="{B4DCEFD7-5B84-68B8-F121-E0423A65A9A7}"/>
              </a:ext>
            </a:extLst>
          </p:cNvPr>
          <p:cNvSpPr>
            <a:spLocks noGrp="1"/>
          </p:cNvSpPr>
          <p:nvPr>
            <p:ph sz="half" idx="1"/>
          </p:nvPr>
        </p:nvSpPr>
        <p:spPr>
          <a:xfrm>
            <a:off x="900223" y="1600200"/>
            <a:ext cx="8309344" cy="4572000"/>
          </a:xfrm>
        </p:spPr>
        <p:txBody>
          <a:bodyPr vert="horz" lIns="91440" tIns="45720" rIns="91440" bIns="45720" rtlCol="0" anchor="t">
            <a:normAutofit fontScale="55000" lnSpcReduction="20000"/>
          </a:bodyPr>
          <a:lstStyle/>
          <a:p>
            <a:pPr marL="0" indent="0">
              <a:buNone/>
            </a:pPr>
            <a:endParaRPr lang="en-US" sz="2000" dirty="0">
              <a:solidFill>
                <a:srgbClr val="222222"/>
              </a:solidFill>
              <a:highlight>
                <a:srgbClr val="FFFFFF"/>
              </a:highlight>
              <a:latin typeface="IBM Plex Sans"/>
              <a:cs typeface="Arial"/>
            </a:endParaRPr>
          </a:p>
          <a:p>
            <a:pPr marL="0" indent="0">
              <a:buNone/>
            </a:pPr>
            <a:r>
              <a:rPr lang="en-US" b="1">
                <a:solidFill>
                  <a:srgbClr val="222222"/>
                </a:solidFill>
                <a:highlight>
                  <a:srgbClr val="FFFFFF"/>
                </a:highlight>
                <a:latin typeface="IBM Plex Sans"/>
                <a:cs typeface="Arial"/>
              </a:rPr>
              <a:t>Machine Learning</a:t>
            </a:r>
            <a:endParaRPr lang="en-US">
              <a:latin typeface="IBM Plex Sans"/>
              <a:cs typeface="Arial"/>
            </a:endParaRPr>
          </a:p>
          <a:p>
            <a:pPr marL="0" indent="0">
              <a:buNone/>
            </a:pPr>
            <a:endParaRPr lang="en-US" b="1" dirty="0">
              <a:solidFill>
                <a:srgbClr val="222222"/>
              </a:solidFill>
              <a:highlight>
                <a:srgbClr val="FFFFFF"/>
              </a:highlight>
              <a:latin typeface="IBM Plex Sans"/>
              <a:cs typeface="Arial"/>
            </a:endParaRPr>
          </a:p>
          <a:p>
            <a:pPr marL="0" indent="0">
              <a:buNone/>
            </a:pPr>
            <a:r>
              <a:rPr lang="en-US" b="1">
                <a:solidFill>
                  <a:srgbClr val="222222"/>
                </a:solidFill>
                <a:highlight>
                  <a:srgbClr val="FFFFFF"/>
                </a:highlight>
                <a:latin typeface="IBM Plex Sans"/>
                <a:cs typeface="Arial"/>
              </a:rPr>
              <a:t>Data Preprocessing</a:t>
            </a:r>
            <a:endParaRPr lang="en-US">
              <a:latin typeface="IBM Plex Sans"/>
            </a:endParaRPr>
          </a:p>
          <a:p>
            <a:r>
              <a:rPr lang="en-US">
                <a:solidFill>
                  <a:srgbClr val="222222"/>
                </a:solidFill>
                <a:highlight>
                  <a:srgbClr val="FFFFFF"/>
                </a:highlight>
                <a:latin typeface="IBM Plex Sans"/>
                <a:cs typeface="Arial"/>
              </a:rPr>
              <a:t>Created binary target vector y from column Class (Landing Success = 1, Failure = 0).</a:t>
            </a:r>
            <a:endParaRPr lang="en-US">
              <a:latin typeface="IBM Plex Sans"/>
            </a:endParaRPr>
          </a:p>
          <a:p>
            <a:r>
              <a:rPr lang="en-US">
                <a:solidFill>
                  <a:srgbClr val="222222"/>
                </a:solidFill>
                <a:highlight>
                  <a:srgbClr val="FFFFFF"/>
                </a:highlight>
                <a:latin typeface="IBM Plex Sans"/>
                <a:cs typeface="Arial"/>
              </a:rPr>
              <a:t>Created feature matrix X with One-Hot Encoded categorical variables.</a:t>
            </a:r>
            <a:endParaRPr lang="en-US">
              <a:latin typeface="IBM Plex Sans"/>
            </a:endParaRPr>
          </a:p>
          <a:p>
            <a:r>
              <a:rPr lang="en-US" dirty="0">
                <a:solidFill>
                  <a:srgbClr val="222222"/>
                </a:solidFill>
                <a:highlight>
                  <a:srgbClr val="FFFFFF"/>
                </a:highlight>
                <a:latin typeface="IBM Plex Sans"/>
                <a:cs typeface="Arial"/>
              </a:rPr>
              <a:t> </a:t>
            </a:r>
            <a:r>
              <a:rPr lang="en-US" i="1" dirty="0">
                <a:solidFill>
                  <a:srgbClr val="222222"/>
                </a:solidFill>
                <a:highlight>
                  <a:srgbClr val="FFFFFF"/>
                </a:highlight>
                <a:latin typeface="IBM Plex Sans"/>
                <a:cs typeface="Arial"/>
              </a:rPr>
              <a:t>Code line:</a:t>
            </a:r>
            <a:r>
              <a:rPr lang="en-US" dirty="0">
                <a:solidFill>
                  <a:srgbClr val="222222"/>
                </a:solidFill>
                <a:highlight>
                  <a:srgbClr val="FFFFFF"/>
                </a:highlight>
                <a:latin typeface="IBM Plex Sans"/>
                <a:cs typeface="Arial"/>
              </a:rPr>
              <a:t> y = </a:t>
            </a:r>
            <a:r>
              <a:rPr lang="en-US" dirty="0" err="1">
                <a:solidFill>
                  <a:srgbClr val="222222"/>
                </a:solidFill>
                <a:highlight>
                  <a:srgbClr val="FFFFFF"/>
                </a:highlight>
                <a:latin typeface="IBM Plex Sans"/>
                <a:cs typeface="Arial"/>
              </a:rPr>
              <a:t>df</a:t>
            </a:r>
            <a:r>
              <a:rPr lang="en-US" dirty="0">
                <a:solidFill>
                  <a:srgbClr val="222222"/>
                </a:solidFill>
                <a:highlight>
                  <a:srgbClr val="FFFFFF"/>
                </a:highlight>
                <a:latin typeface="IBM Plex Sans"/>
                <a:cs typeface="Arial"/>
              </a:rPr>
              <a:t>['</a:t>
            </a:r>
            <a:r>
              <a:rPr lang="en-US" dirty="0" err="1">
                <a:solidFill>
                  <a:srgbClr val="222222"/>
                </a:solidFill>
                <a:highlight>
                  <a:srgbClr val="FFFFFF"/>
                </a:highlight>
                <a:latin typeface="IBM Plex Sans"/>
                <a:cs typeface="Arial"/>
              </a:rPr>
              <a:t>Class'</a:t>
            </a:r>
            <a:r>
              <a:rPr lang="en-US" dirty="0">
                <a:solidFill>
                  <a:srgbClr val="222222"/>
                </a:solidFill>
                <a:highlight>
                  <a:srgbClr val="FFFFFF"/>
                </a:highlight>
                <a:latin typeface="IBM Plex Sans"/>
                <a:cs typeface="Arial"/>
              </a:rPr>
              <a:t>].</a:t>
            </a:r>
            <a:r>
              <a:rPr lang="en-US" dirty="0" err="1">
                <a:solidFill>
                  <a:srgbClr val="222222"/>
                </a:solidFill>
                <a:highlight>
                  <a:srgbClr val="FFFFFF"/>
                </a:highlight>
                <a:latin typeface="IBM Plex Sans"/>
                <a:cs typeface="Arial"/>
              </a:rPr>
              <a:t>to_numpy</a:t>
            </a:r>
            <a:r>
              <a:rPr lang="en-US" dirty="0">
                <a:solidFill>
                  <a:srgbClr val="222222"/>
                </a:solidFill>
                <a:highlight>
                  <a:srgbClr val="FFFFFF"/>
                </a:highlight>
                <a:latin typeface="IBM Plex Sans"/>
                <a:cs typeface="Arial"/>
              </a:rPr>
              <a:t>()</a:t>
            </a:r>
            <a:endParaRPr lang="en-US">
              <a:latin typeface="IBM Plex Sans"/>
            </a:endParaRPr>
          </a:p>
          <a:p>
            <a:pPr marL="0" indent="0">
              <a:buNone/>
            </a:pPr>
            <a:r>
              <a:rPr lang="en-US" b="1">
                <a:solidFill>
                  <a:srgbClr val="222222"/>
                </a:solidFill>
                <a:highlight>
                  <a:srgbClr val="FFFFFF"/>
                </a:highlight>
                <a:latin typeface="IBM Plex Sans"/>
                <a:cs typeface="Arial"/>
              </a:rPr>
              <a:t>Standardization</a:t>
            </a:r>
            <a:endParaRPr lang="en-US">
              <a:latin typeface="IBM Plex Sans"/>
            </a:endParaRPr>
          </a:p>
          <a:p>
            <a:r>
              <a:rPr lang="en-US" dirty="0">
                <a:solidFill>
                  <a:srgbClr val="222222"/>
                </a:solidFill>
                <a:highlight>
                  <a:srgbClr val="FFFFFF"/>
                </a:highlight>
                <a:latin typeface="IBM Plex Sans"/>
                <a:cs typeface="Arial"/>
              </a:rPr>
              <a:t>Scaled features using </a:t>
            </a:r>
            <a:r>
              <a:rPr lang="en-US" dirty="0" err="1">
                <a:solidFill>
                  <a:srgbClr val="222222"/>
                </a:solidFill>
                <a:highlight>
                  <a:srgbClr val="FFFFFF"/>
                </a:highlight>
                <a:latin typeface="IBM Plex Sans"/>
                <a:cs typeface="Arial"/>
              </a:rPr>
              <a:t>StandardScaler</a:t>
            </a:r>
            <a:r>
              <a:rPr lang="en-US" dirty="0">
                <a:solidFill>
                  <a:srgbClr val="222222"/>
                </a:solidFill>
                <a:highlight>
                  <a:srgbClr val="FFFFFF"/>
                </a:highlight>
                <a:latin typeface="IBM Plex Sans"/>
                <a:cs typeface="Arial"/>
              </a:rPr>
              <a:t>() to ensure zero mean and unit variance across features.</a:t>
            </a:r>
            <a:endParaRPr lang="en-US">
              <a:latin typeface="IBM Plex Sans"/>
            </a:endParaRPr>
          </a:p>
          <a:p>
            <a:r>
              <a:rPr lang="en-US" dirty="0">
                <a:solidFill>
                  <a:srgbClr val="222222"/>
                </a:solidFill>
                <a:highlight>
                  <a:srgbClr val="FFFFFF"/>
                </a:highlight>
                <a:latin typeface="IBM Plex Sans"/>
                <a:cs typeface="Arial"/>
              </a:rPr>
              <a:t> </a:t>
            </a:r>
            <a:r>
              <a:rPr lang="en-US" i="1" dirty="0">
                <a:solidFill>
                  <a:srgbClr val="222222"/>
                </a:solidFill>
                <a:highlight>
                  <a:srgbClr val="FFFFFF"/>
                </a:highlight>
                <a:latin typeface="IBM Plex Sans"/>
                <a:cs typeface="Arial"/>
              </a:rPr>
              <a:t>Code line:</a:t>
            </a:r>
            <a:r>
              <a:rPr lang="en-US" dirty="0">
                <a:solidFill>
                  <a:srgbClr val="222222"/>
                </a:solidFill>
                <a:highlight>
                  <a:srgbClr val="FFFFFF"/>
                </a:highlight>
                <a:latin typeface="IBM Plex Sans"/>
                <a:cs typeface="Arial"/>
              </a:rPr>
              <a:t> X = </a:t>
            </a:r>
            <a:r>
              <a:rPr lang="en-US" dirty="0" err="1">
                <a:solidFill>
                  <a:srgbClr val="222222"/>
                </a:solidFill>
                <a:highlight>
                  <a:srgbClr val="FFFFFF"/>
                </a:highlight>
                <a:latin typeface="IBM Plex Sans"/>
                <a:cs typeface="Arial"/>
              </a:rPr>
              <a:t>StandardScaler</a:t>
            </a:r>
            <a:r>
              <a:rPr lang="en-US" dirty="0">
                <a:solidFill>
                  <a:srgbClr val="222222"/>
                </a:solidFill>
                <a:highlight>
                  <a:srgbClr val="FFFFFF"/>
                </a:highlight>
                <a:latin typeface="IBM Plex Sans"/>
                <a:cs typeface="Arial"/>
              </a:rPr>
              <a:t>().</a:t>
            </a:r>
            <a:r>
              <a:rPr lang="en-US" dirty="0" err="1">
                <a:solidFill>
                  <a:srgbClr val="222222"/>
                </a:solidFill>
                <a:highlight>
                  <a:srgbClr val="FFFFFF"/>
                </a:highlight>
                <a:latin typeface="IBM Plex Sans"/>
                <a:cs typeface="Arial"/>
              </a:rPr>
              <a:t>fit_transform</a:t>
            </a:r>
            <a:r>
              <a:rPr lang="en-US" dirty="0">
                <a:solidFill>
                  <a:srgbClr val="222222"/>
                </a:solidFill>
                <a:highlight>
                  <a:srgbClr val="FFFFFF"/>
                </a:highlight>
                <a:latin typeface="IBM Plex Sans"/>
                <a:cs typeface="Arial"/>
              </a:rPr>
              <a:t>(X)</a:t>
            </a:r>
            <a:endParaRPr lang="en-US">
              <a:latin typeface="IBM Plex Sans"/>
            </a:endParaRPr>
          </a:p>
          <a:p>
            <a:pPr marL="0" indent="0">
              <a:buNone/>
            </a:pPr>
            <a:r>
              <a:rPr lang="en-US" b="1" dirty="0">
                <a:solidFill>
                  <a:srgbClr val="222222"/>
                </a:solidFill>
                <a:highlight>
                  <a:srgbClr val="FFFFFF"/>
                </a:highlight>
                <a:latin typeface="IBM Plex Sans"/>
                <a:cs typeface="Arial"/>
              </a:rPr>
              <a:t>Train/Test Split &amp; </a:t>
            </a:r>
            <a:r>
              <a:rPr lang="en-US" b="1" dirty="0" err="1">
                <a:solidFill>
                  <a:srgbClr val="222222"/>
                </a:solidFill>
                <a:highlight>
                  <a:srgbClr val="FFFFFF"/>
                </a:highlight>
                <a:latin typeface="IBM Plex Sans"/>
                <a:cs typeface="Arial"/>
              </a:rPr>
              <a:t>GridSearch</a:t>
            </a:r>
            <a:endParaRPr lang="en-US">
              <a:latin typeface="IBM Plex Sans"/>
            </a:endParaRPr>
          </a:p>
          <a:p>
            <a:r>
              <a:rPr lang="en-US" dirty="0">
                <a:solidFill>
                  <a:srgbClr val="222222"/>
                </a:solidFill>
                <a:highlight>
                  <a:srgbClr val="FFFFFF"/>
                </a:highlight>
                <a:latin typeface="IBM Plex Sans"/>
                <a:cs typeface="Arial"/>
              </a:rPr>
              <a:t>Split data into training and test sets using </a:t>
            </a:r>
            <a:r>
              <a:rPr lang="en-US" dirty="0" err="1">
                <a:solidFill>
                  <a:srgbClr val="222222"/>
                </a:solidFill>
                <a:highlight>
                  <a:srgbClr val="FFFFFF"/>
                </a:highlight>
                <a:latin typeface="IBM Plex Sans"/>
                <a:cs typeface="Arial"/>
              </a:rPr>
              <a:t>train_test_split</a:t>
            </a:r>
            <a:r>
              <a:rPr lang="en-US" dirty="0">
                <a:solidFill>
                  <a:srgbClr val="222222"/>
                </a:solidFill>
                <a:highlight>
                  <a:srgbClr val="FFFFFF"/>
                </a:highlight>
                <a:latin typeface="IBM Plex Sans"/>
                <a:cs typeface="Arial"/>
              </a:rPr>
              <a:t> with an </a:t>
            </a:r>
            <a:r>
              <a:rPr lang="en-US" b="1" dirty="0">
                <a:solidFill>
                  <a:srgbClr val="222222"/>
                </a:solidFill>
                <a:highlight>
                  <a:srgbClr val="FFFFFF"/>
                </a:highlight>
                <a:latin typeface="IBM Plex Sans"/>
                <a:cs typeface="Arial"/>
              </a:rPr>
              <a:t>80/20 ratio</a:t>
            </a:r>
            <a:r>
              <a:rPr lang="en-US" dirty="0">
                <a:solidFill>
                  <a:srgbClr val="222222"/>
                </a:solidFill>
                <a:highlight>
                  <a:srgbClr val="FFFFFF"/>
                </a:highlight>
                <a:latin typeface="IBM Plex Sans"/>
                <a:cs typeface="Arial"/>
              </a:rPr>
              <a:t> (</a:t>
            </a:r>
            <a:r>
              <a:rPr lang="en-US" dirty="0" err="1">
                <a:solidFill>
                  <a:srgbClr val="222222"/>
                </a:solidFill>
                <a:highlight>
                  <a:srgbClr val="FFFFFF"/>
                </a:highlight>
                <a:latin typeface="IBM Plex Sans"/>
                <a:cs typeface="Arial"/>
              </a:rPr>
              <a:t>random_state</a:t>
            </a:r>
            <a:r>
              <a:rPr lang="en-US" dirty="0">
                <a:solidFill>
                  <a:srgbClr val="222222"/>
                </a:solidFill>
                <a:highlight>
                  <a:srgbClr val="FFFFFF"/>
                </a:highlight>
                <a:latin typeface="IBM Plex Sans"/>
                <a:cs typeface="Arial"/>
              </a:rPr>
              <a:t> = 2).</a:t>
            </a:r>
            <a:endParaRPr lang="en-US">
              <a:latin typeface="IBM Plex Sans"/>
            </a:endParaRPr>
          </a:p>
          <a:p>
            <a:r>
              <a:rPr lang="en-US" dirty="0">
                <a:solidFill>
                  <a:srgbClr val="222222"/>
                </a:solidFill>
                <a:highlight>
                  <a:srgbClr val="FFFFFF"/>
                </a:highlight>
                <a:latin typeface="IBM Plex Sans"/>
                <a:cs typeface="Arial"/>
              </a:rPr>
              <a:t>Used </a:t>
            </a:r>
            <a:r>
              <a:rPr lang="en-US" dirty="0" err="1">
                <a:solidFill>
                  <a:srgbClr val="222222"/>
                </a:solidFill>
                <a:highlight>
                  <a:srgbClr val="FFFFFF"/>
                </a:highlight>
                <a:latin typeface="IBM Plex Sans"/>
                <a:cs typeface="Arial"/>
              </a:rPr>
              <a:t>GridSearchCV</a:t>
            </a:r>
            <a:r>
              <a:rPr lang="en-US" dirty="0">
                <a:solidFill>
                  <a:srgbClr val="222222"/>
                </a:solidFill>
                <a:highlight>
                  <a:srgbClr val="FFFFFF"/>
                </a:highlight>
                <a:latin typeface="IBM Plex Sans"/>
                <a:cs typeface="Arial"/>
              </a:rPr>
              <a:t> with </a:t>
            </a:r>
            <a:r>
              <a:rPr lang="en-US" b="1" dirty="0">
                <a:solidFill>
                  <a:srgbClr val="222222"/>
                </a:solidFill>
                <a:highlight>
                  <a:srgbClr val="FFFFFF"/>
                </a:highlight>
                <a:latin typeface="IBM Plex Sans"/>
                <a:cs typeface="Arial"/>
              </a:rPr>
              <a:t>10-fold cross-validation</a:t>
            </a:r>
            <a:r>
              <a:rPr lang="en-US" dirty="0">
                <a:solidFill>
                  <a:srgbClr val="222222"/>
                </a:solidFill>
                <a:highlight>
                  <a:srgbClr val="FFFFFF"/>
                </a:highlight>
                <a:latin typeface="IBM Plex Sans"/>
                <a:cs typeface="Arial"/>
              </a:rPr>
              <a:t> for hyperparameter tuning. </a:t>
            </a:r>
            <a:endParaRPr lang="en-US">
              <a:latin typeface="IBM Plex Sans"/>
            </a:endParaRPr>
          </a:p>
          <a:p>
            <a:pPr marL="0" indent="0">
              <a:buNone/>
            </a:pPr>
            <a:br>
              <a:rPr lang="en-US" dirty="0"/>
            </a:br>
            <a:endParaRPr lang="en-US"/>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179055"/>
            <a:ext cx="10515600" cy="855959"/>
          </a:xfrm>
        </p:spPr>
        <p:txBody>
          <a:bodyPr anchor="ctr">
            <a:normAutofit/>
          </a:bodyPr>
          <a:lstStyle/>
          <a:p>
            <a:r>
              <a:rPr lang="en-US">
                <a:latin typeface="IBM Plex Sans SemiBold"/>
              </a:rPr>
              <a:t>CONCLUSION MATRIX EVALUATION</a:t>
            </a:r>
            <a:endParaRPr lang="en-US"/>
          </a:p>
        </p:txBody>
      </p:sp>
      <p:sp>
        <p:nvSpPr>
          <p:cNvPr id="3" name="Content Placeholder 2">
            <a:extLst>
              <a:ext uri="{FF2B5EF4-FFF2-40B4-BE49-F238E27FC236}">
                <a16:creationId xmlns:a16="http://schemas.microsoft.com/office/drawing/2014/main" id="{01EF850D-2963-3C14-71D3-DE2CC683AA02}"/>
              </a:ext>
            </a:extLst>
          </p:cNvPr>
          <p:cNvSpPr>
            <a:spLocks noGrp="1"/>
          </p:cNvSpPr>
          <p:nvPr>
            <p:ph sz="half" idx="1"/>
          </p:nvPr>
        </p:nvSpPr>
        <p:spPr>
          <a:xfrm>
            <a:off x="838200" y="1369828"/>
            <a:ext cx="10515600" cy="4802372"/>
          </a:xfrm>
        </p:spPr>
        <p:txBody>
          <a:bodyPr vert="horz" lIns="91440" tIns="45720" rIns="91440" bIns="45720" rtlCol="0" anchor="t">
            <a:normAutofit fontScale="85000" lnSpcReduction="20000"/>
          </a:bodyPr>
          <a:lstStyle/>
          <a:p>
            <a:pPr marL="0" indent="0">
              <a:buNone/>
            </a:pPr>
            <a:r>
              <a:rPr lang="en-US" b="1">
                <a:solidFill>
                  <a:srgbClr val="222222"/>
                </a:solidFill>
                <a:highlight>
                  <a:srgbClr val="FFFFFF"/>
                </a:highlight>
                <a:latin typeface="IBM Plex Sans"/>
                <a:cs typeface="Arial"/>
              </a:rPr>
              <a:t>Confusion Matrix Evaluation</a:t>
            </a:r>
          </a:p>
          <a:p>
            <a:pPr marL="0" indent="0">
              <a:buNone/>
            </a:pPr>
            <a:endParaRPr lang="en-US" b="1" dirty="0">
              <a:solidFill>
                <a:srgbClr val="222222"/>
              </a:solidFill>
              <a:highlight>
                <a:srgbClr val="FFFFFF"/>
              </a:highlight>
              <a:latin typeface="IBM Plex Sans"/>
              <a:cs typeface="Arial"/>
            </a:endParaRPr>
          </a:p>
          <a:p>
            <a:pPr marL="0" indent="0">
              <a:buNone/>
            </a:pPr>
            <a:r>
              <a:rPr lang="en-US" b="1">
                <a:solidFill>
                  <a:srgbClr val="222222"/>
                </a:solidFill>
                <a:highlight>
                  <a:srgbClr val="FFFFFF"/>
                </a:highlight>
                <a:latin typeface="IBM Plex Sans"/>
                <a:cs typeface="Arial"/>
              </a:rPr>
              <a:t>Predictive Analytics</a:t>
            </a:r>
            <a:endParaRPr lang="en-US" b="1">
              <a:latin typeface="IBM Plex Sans"/>
            </a:endParaRPr>
          </a:p>
          <a:p>
            <a:pPr marL="0" indent="0">
              <a:buNone/>
            </a:pPr>
            <a:r>
              <a:rPr lang="en-US" sz="2000" i="1">
                <a:solidFill>
                  <a:srgbClr val="222222"/>
                </a:solidFill>
                <a:highlight>
                  <a:srgbClr val="FFFFFF"/>
                </a:highlight>
                <a:latin typeface="IBM Plex Sans"/>
                <a:cs typeface="Arial"/>
              </a:rPr>
              <a:t>(Note: All four models achieved an identical test set accuracy of </a:t>
            </a:r>
            <a:r>
              <a:rPr lang="en-US" sz="2000" b="1" i="1">
                <a:solidFill>
                  <a:srgbClr val="222222"/>
                </a:solidFill>
                <a:highlight>
                  <a:srgbClr val="FFFFFF"/>
                </a:highlight>
                <a:latin typeface="IBM Plex Sans"/>
                <a:cs typeface="Arial"/>
              </a:rPr>
              <a:t>83.33%</a:t>
            </a:r>
            <a:r>
              <a:rPr lang="en-US" sz="2000" i="1">
                <a:solidFill>
                  <a:srgbClr val="222222"/>
                </a:solidFill>
                <a:highlight>
                  <a:srgbClr val="FFFFFF"/>
                </a:highlight>
                <a:latin typeface="IBM Plex Sans"/>
                <a:cs typeface="Arial"/>
              </a:rPr>
              <a:t> on 18 test samples)</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Logistic Regression:</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Test Accuracy:</a:t>
            </a:r>
            <a:r>
              <a:rPr lang="en-US" sz="2000">
                <a:solidFill>
                  <a:srgbClr val="222222"/>
                </a:solidFill>
                <a:highlight>
                  <a:srgbClr val="FFFFFF"/>
                </a:highlight>
                <a:latin typeface="IBM Plex Sans"/>
                <a:cs typeface="Arial"/>
              </a:rPr>
              <a:t> 83.33%</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Confusion Matrix:</a:t>
            </a:r>
            <a:r>
              <a:rPr lang="en-US" sz="2000">
                <a:solidFill>
                  <a:srgbClr val="222222"/>
                </a:solidFill>
                <a:highlight>
                  <a:srgbClr val="FFFFFF"/>
                </a:highlight>
                <a:latin typeface="IBM Plex Sans"/>
                <a:cs typeface="Arial"/>
              </a:rPr>
              <a:t> True Negatives: 3 | False Positives: 3 | False Negatives: 0 | True Positives: 12</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Support Vector Machine (SVM):</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Test Accuracy:</a:t>
            </a:r>
            <a:r>
              <a:rPr lang="en-US" sz="2000">
                <a:solidFill>
                  <a:srgbClr val="222222"/>
                </a:solidFill>
                <a:highlight>
                  <a:srgbClr val="FFFFFF"/>
                </a:highlight>
                <a:latin typeface="IBM Plex Sans"/>
                <a:cs typeface="Arial"/>
              </a:rPr>
              <a:t> 83.33%</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Confusion Matrix:</a:t>
            </a:r>
            <a:r>
              <a:rPr lang="en-US" sz="2000">
                <a:solidFill>
                  <a:srgbClr val="222222"/>
                </a:solidFill>
                <a:highlight>
                  <a:srgbClr val="FFFFFF"/>
                </a:highlight>
                <a:latin typeface="IBM Plex Sans"/>
                <a:cs typeface="Arial"/>
              </a:rPr>
              <a:t> True Negatives: 3 | False Positives: 3 | False Negatives: 0 | True Positives: 12</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Decision Tree Classifier:</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Test Accuracy:</a:t>
            </a:r>
            <a:r>
              <a:rPr lang="en-US" sz="2000">
                <a:solidFill>
                  <a:srgbClr val="222222"/>
                </a:solidFill>
                <a:highlight>
                  <a:srgbClr val="FFFFFF"/>
                </a:highlight>
                <a:latin typeface="IBM Plex Sans"/>
                <a:cs typeface="Arial"/>
              </a:rPr>
              <a:t> 83.33%</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Confusion Matrix:</a:t>
            </a:r>
            <a:r>
              <a:rPr lang="en-US" sz="2000">
                <a:solidFill>
                  <a:srgbClr val="222222"/>
                </a:solidFill>
                <a:highlight>
                  <a:srgbClr val="FFFFFF"/>
                </a:highlight>
                <a:latin typeface="IBM Plex Sans"/>
                <a:cs typeface="Arial"/>
              </a:rPr>
              <a:t> True Negatives: 3 | False Positives: 3 | False Negatives: 0 | True Positives: 12</a:t>
            </a:r>
            <a:endParaRPr lang="en-US" sz="2000">
              <a:latin typeface="IBM Plex Sans"/>
            </a:endParaRPr>
          </a:p>
          <a:p>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K-Nearest Neighbors (KNN):</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Test Accuracy:</a:t>
            </a:r>
            <a:r>
              <a:rPr lang="en-US" sz="2000">
                <a:solidFill>
                  <a:srgbClr val="222222"/>
                </a:solidFill>
                <a:highlight>
                  <a:srgbClr val="FFFFFF"/>
                </a:highlight>
                <a:latin typeface="IBM Plex Sans"/>
                <a:cs typeface="Arial"/>
              </a:rPr>
              <a:t> 83.33%</a:t>
            </a:r>
            <a:endParaRPr lang="en-US" sz="2000">
              <a:latin typeface="IBM Plex Sans"/>
            </a:endParaRPr>
          </a:p>
          <a:p>
            <a:pPr lvl="1"/>
            <a:r>
              <a:rPr lang="en-US" sz="2000" dirty="0">
                <a:solidFill>
                  <a:srgbClr val="222222"/>
                </a:solidFill>
                <a:highlight>
                  <a:srgbClr val="FFFFFF"/>
                </a:highlight>
                <a:latin typeface="IBM Plex Sans"/>
                <a:cs typeface="Arial"/>
              </a:rPr>
              <a:t> </a:t>
            </a:r>
            <a:r>
              <a:rPr lang="en-US" sz="2000" b="1">
                <a:solidFill>
                  <a:srgbClr val="222222"/>
                </a:solidFill>
                <a:highlight>
                  <a:srgbClr val="FFFFFF"/>
                </a:highlight>
                <a:latin typeface="IBM Plex Sans"/>
                <a:cs typeface="Arial"/>
              </a:rPr>
              <a:t>Confusion Matrix:</a:t>
            </a:r>
            <a:r>
              <a:rPr lang="en-US" sz="2000">
                <a:solidFill>
                  <a:srgbClr val="222222"/>
                </a:solidFill>
                <a:highlight>
                  <a:srgbClr val="FFFFFF"/>
                </a:highlight>
                <a:latin typeface="IBM Plex Sans"/>
                <a:cs typeface="Arial"/>
              </a:rPr>
              <a:t> True Negatives: 3 | False Positives: 3 | False Negatives: 0 | True Positives: 12</a:t>
            </a:r>
            <a:endParaRPr lang="en-US" sz="2000">
              <a:latin typeface="IBM Plex Sans"/>
            </a:endParaRPr>
          </a:p>
          <a:p>
            <a:pPr marL="0" indent="0">
              <a:buNone/>
            </a:pPr>
            <a:endParaRPr lang="en-US" dirty="0"/>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fontScale="90000"/>
          </a:bodyPr>
          <a:lstStyle/>
          <a:p>
            <a:r>
              <a:rPr lang="en-US"/>
              <a:t>APPENDIX</a:t>
            </a:r>
          </a:p>
        </p:txBody>
      </p:sp>
      <p:pic>
        <p:nvPicPr>
          <p:cNvPr id="4" name="Content Placeholder 3" descr="Confusion-matrix heatmap summarizes binary classifier performance for “did not land” and “land,” with true labels on vertical axis and predicted labels on horizontal axis. Cells show counts of 3, 3, 0, and 12, while color scale ranges from 0 to 12; model correctly identifies 3 “did not land” cases and 12 “land” cases, with 3 false positives and 0 false negatives.&#10;&#10;AI-generated content may be incorrect.">
            <a:extLst>
              <a:ext uri="{FF2B5EF4-FFF2-40B4-BE49-F238E27FC236}">
                <a16:creationId xmlns:a16="http://schemas.microsoft.com/office/drawing/2014/main" id="{96A065A1-FD9A-D907-5D65-D8A2BA8D9F02}"/>
              </a:ext>
            </a:extLst>
          </p:cNvPr>
          <p:cNvPicPr>
            <a:picLocks noGrp="1" noChangeAspect="1"/>
          </p:cNvPicPr>
          <p:nvPr>
            <p:ph sz="half" idx="1"/>
          </p:nvPr>
        </p:nvPicPr>
        <p:blipFill>
          <a:blip r:embed="rId3"/>
          <a:stretch>
            <a:fillRect/>
          </a:stretch>
        </p:blipFill>
        <p:spPr>
          <a:xfrm>
            <a:off x="1139455" y="1858335"/>
            <a:ext cx="2798135" cy="2000102"/>
          </a:xfrm>
          <a:prstGeom prst="rect">
            <a:avLst/>
          </a:prstGeom>
        </p:spPr>
      </p:pic>
      <p:pic>
        <p:nvPicPr>
          <p:cNvPr id="5" name="Picture 4">
            <a:extLst>
              <a:ext uri="{FF2B5EF4-FFF2-40B4-BE49-F238E27FC236}">
                <a16:creationId xmlns:a16="http://schemas.microsoft.com/office/drawing/2014/main" id="{0D4E8D5B-60F7-AF83-5BF5-EC95CA43FE2E}"/>
              </a:ext>
            </a:extLst>
          </p:cNvPr>
          <p:cNvPicPr>
            <a:picLocks noChangeAspect="1"/>
          </p:cNvPicPr>
          <p:nvPr/>
        </p:nvPicPr>
        <p:blipFill>
          <a:blip r:embed="rId4"/>
          <a:stretch>
            <a:fillRect/>
          </a:stretch>
        </p:blipFill>
        <p:spPr>
          <a:xfrm>
            <a:off x="1100358" y="4262992"/>
            <a:ext cx="2575074" cy="1982530"/>
          </a:xfrm>
          <a:prstGeom prst="rect">
            <a:avLst/>
          </a:prstGeom>
        </p:spPr>
      </p:pic>
      <p:pic>
        <p:nvPicPr>
          <p:cNvPr id="6" name="Picture 5">
            <a:extLst>
              <a:ext uri="{FF2B5EF4-FFF2-40B4-BE49-F238E27FC236}">
                <a16:creationId xmlns:a16="http://schemas.microsoft.com/office/drawing/2014/main" id="{D7A07B97-9220-9821-37FD-CAB87F244110}"/>
              </a:ext>
            </a:extLst>
          </p:cNvPr>
          <p:cNvPicPr>
            <a:picLocks noChangeAspect="1"/>
          </p:cNvPicPr>
          <p:nvPr/>
        </p:nvPicPr>
        <p:blipFill>
          <a:blip r:embed="rId5"/>
          <a:stretch>
            <a:fillRect/>
          </a:stretch>
        </p:blipFill>
        <p:spPr>
          <a:xfrm>
            <a:off x="5359140" y="1945093"/>
            <a:ext cx="2607858" cy="1984303"/>
          </a:xfrm>
          <a:prstGeom prst="rect">
            <a:avLst/>
          </a:prstGeom>
        </p:spPr>
      </p:pic>
      <p:pic>
        <p:nvPicPr>
          <p:cNvPr id="7" name="Picture 6">
            <a:extLst>
              <a:ext uri="{FF2B5EF4-FFF2-40B4-BE49-F238E27FC236}">
                <a16:creationId xmlns:a16="http://schemas.microsoft.com/office/drawing/2014/main" id="{4708BD2F-3222-C512-F091-6ED15244E230}"/>
              </a:ext>
            </a:extLst>
          </p:cNvPr>
          <p:cNvPicPr>
            <a:picLocks noChangeAspect="1"/>
          </p:cNvPicPr>
          <p:nvPr/>
        </p:nvPicPr>
        <p:blipFill>
          <a:blip r:embed="rId6"/>
          <a:stretch>
            <a:fillRect/>
          </a:stretch>
        </p:blipFill>
        <p:spPr>
          <a:xfrm>
            <a:off x="5246614" y="4378954"/>
            <a:ext cx="2567098" cy="1998699"/>
          </a:xfrm>
          <a:prstGeom prst="rect">
            <a:avLst/>
          </a:prstGeom>
        </p:spPr>
      </p:pic>
      <p:sp>
        <p:nvSpPr>
          <p:cNvPr id="12" name="TextBox 11">
            <a:extLst>
              <a:ext uri="{FF2B5EF4-FFF2-40B4-BE49-F238E27FC236}">
                <a16:creationId xmlns:a16="http://schemas.microsoft.com/office/drawing/2014/main" id="{22C054FE-10B4-1742-729E-423DF6DC8B7A}"/>
              </a:ext>
            </a:extLst>
          </p:cNvPr>
          <p:cNvSpPr txBox="1"/>
          <p:nvPr/>
        </p:nvSpPr>
        <p:spPr>
          <a:xfrm>
            <a:off x="1399315" y="3634332"/>
            <a:ext cx="2069820" cy="252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A383604A-B0A4-3C8A-A06A-A966B4AE41D9}"/>
              </a:ext>
            </a:extLst>
          </p:cNvPr>
          <p:cNvSpPr txBox="1"/>
          <p:nvPr/>
        </p:nvSpPr>
        <p:spPr>
          <a:xfrm>
            <a:off x="1140372" y="1583946"/>
            <a:ext cx="312133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Logistic Regression: 83.33%</a:t>
            </a:r>
          </a:p>
        </p:txBody>
      </p:sp>
      <p:sp>
        <p:nvSpPr>
          <p:cNvPr id="15" name="TextBox 14">
            <a:extLst>
              <a:ext uri="{FF2B5EF4-FFF2-40B4-BE49-F238E27FC236}">
                <a16:creationId xmlns:a16="http://schemas.microsoft.com/office/drawing/2014/main" id="{BAB563E6-2551-3C70-DB5D-B675D478D214}"/>
              </a:ext>
            </a:extLst>
          </p:cNvPr>
          <p:cNvSpPr txBox="1"/>
          <p:nvPr/>
        </p:nvSpPr>
        <p:spPr>
          <a:xfrm>
            <a:off x="5364040" y="1596236"/>
            <a:ext cx="279489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Super Vector Machine (SVM): 83.33%</a:t>
            </a:r>
          </a:p>
        </p:txBody>
      </p:sp>
      <p:sp>
        <p:nvSpPr>
          <p:cNvPr id="16" name="TextBox 15">
            <a:extLst>
              <a:ext uri="{FF2B5EF4-FFF2-40B4-BE49-F238E27FC236}">
                <a16:creationId xmlns:a16="http://schemas.microsoft.com/office/drawing/2014/main" id="{41FECF48-573B-A436-0FA2-7AEA426A04CD}"/>
              </a:ext>
            </a:extLst>
          </p:cNvPr>
          <p:cNvSpPr txBox="1"/>
          <p:nvPr/>
        </p:nvSpPr>
        <p:spPr>
          <a:xfrm>
            <a:off x="1104363" y="3985308"/>
            <a:ext cx="281806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Decision Tree </a:t>
            </a:r>
            <a:r>
              <a:rPr lang="en-US" sz="1200"/>
              <a:t>Classifier: 83.33%</a:t>
            </a:r>
            <a:endParaRPr lang="en-US" sz="1200" dirty="0"/>
          </a:p>
        </p:txBody>
      </p:sp>
      <p:sp>
        <p:nvSpPr>
          <p:cNvPr id="17" name="TextBox 16">
            <a:extLst>
              <a:ext uri="{FF2B5EF4-FFF2-40B4-BE49-F238E27FC236}">
                <a16:creationId xmlns:a16="http://schemas.microsoft.com/office/drawing/2014/main" id="{7DE9322D-2304-ADB7-C776-8260388FFC16}"/>
              </a:ext>
            </a:extLst>
          </p:cNvPr>
          <p:cNvSpPr txBox="1"/>
          <p:nvPr/>
        </p:nvSpPr>
        <p:spPr>
          <a:xfrm>
            <a:off x="5597259" y="4107059"/>
            <a:ext cx="31473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K-Nearest </a:t>
            </a:r>
            <a:r>
              <a:rPr lang="en-US" sz="1200"/>
              <a:t>Neighbors(KNN): 83.33%</a:t>
            </a:r>
            <a:endParaRPr lang="en-US" sz="1200" dirty="0"/>
          </a:p>
        </p:txBody>
      </p:sp>
      <p:sp>
        <p:nvSpPr>
          <p:cNvPr id="18" name="TextBox 17">
            <a:extLst>
              <a:ext uri="{FF2B5EF4-FFF2-40B4-BE49-F238E27FC236}">
                <a16:creationId xmlns:a16="http://schemas.microsoft.com/office/drawing/2014/main" id="{477EA262-B954-22BB-6F1A-E4B5B0F26A39}"/>
              </a:ext>
            </a:extLst>
          </p:cNvPr>
          <p:cNvSpPr txBox="1"/>
          <p:nvPr/>
        </p:nvSpPr>
        <p:spPr>
          <a:xfrm>
            <a:off x="8522217" y="1739425"/>
            <a:ext cx="249738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Summary:</a:t>
            </a:r>
          </a:p>
          <a:p>
            <a:endParaRPr lang="en-US" sz="1200" dirty="0"/>
          </a:p>
          <a:p>
            <a:pPr marL="171450" indent="-171450">
              <a:buFont typeface="Arial"/>
              <a:buChar char="•"/>
            </a:pPr>
            <a:r>
              <a:rPr lang="en-US" sz="1200" dirty="0"/>
              <a:t>All four tuned classification models </a:t>
            </a:r>
            <a:r>
              <a:rPr lang="en-US" sz="1200" dirty="0" err="1"/>
              <a:t>achived</a:t>
            </a:r>
            <a:r>
              <a:rPr lang="en-US" sz="1200" dirty="0"/>
              <a:t> the same test accuracy (83.33%).</a:t>
            </a:r>
          </a:p>
          <a:p>
            <a:endParaRPr lang="en-US" sz="1200" dirty="0"/>
          </a:p>
          <a:p>
            <a:pPr marL="171450" indent="-171450">
              <a:buFont typeface="Arial"/>
              <a:buChar char="•"/>
            </a:pPr>
            <a:r>
              <a:rPr lang="en-US" sz="1200" dirty="0" err="1"/>
              <a:t>Logidtic</a:t>
            </a:r>
            <a:r>
              <a:rPr lang="en-US" sz="1200" dirty="0"/>
              <a:t> Regression or SVM is recommended for production due to lower computational complexity and better generalizability on binary landing classifications.</a:t>
            </a:r>
          </a:p>
          <a:p>
            <a:endParaRPr lang="en-US" sz="1200" dirty="0"/>
          </a:p>
          <a:p>
            <a:endParaRPr lang="en-US"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830643" y="383051"/>
            <a:ext cx="9774495" cy="1325563"/>
          </a:xfrm>
        </p:spPr>
        <p:txBody>
          <a:bodyPr anchor="ctr">
            <a:normAutofit/>
          </a:bodyPr>
          <a:lstStyle/>
          <a:p>
            <a:r>
              <a:rPr lang="en-US" dirty="0">
                <a:latin typeface="IBM Plex Sans SemiBold"/>
              </a:rPr>
              <a:t> </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3615892"/>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None/>
            </a:pPr>
            <a:endParaRPr lang="en-US" b="1" dirty="0">
              <a:latin typeface="IBM Plex Sans"/>
            </a:endParaRPr>
          </a:p>
          <a:p>
            <a:pPr>
              <a:buNone/>
            </a:pPr>
            <a:r>
              <a:rPr lang="en-US" sz="2400" b="1">
                <a:solidFill>
                  <a:srgbClr val="222222"/>
                </a:solidFill>
                <a:highlight>
                  <a:srgbClr val="FFFFFF"/>
                </a:highlight>
                <a:latin typeface="IBM Plex Sans"/>
                <a:cs typeface="Arial"/>
              </a:rPr>
              <a:t>Final Takeaways &amp; Business Value</a:t>
            </a:r>
            <a:endParaRPr lang="en-US" sz="2400" b="1">
              <a:latin typeface="IBM Plex Sans"/>
            </a:endParaRPr>
          </a:p>
          <a:p>
            <a:pPr>
              <a:buNone/>
            </a:pPr>
            <a:r>
              <a:rPr lang="en-US" sz="2200">
                <a:solidFill>
                  <a:srgbClr val="222222"/>
                </a:solidFill>
                <a:highlight>
                  <a:srgbClr val="FFFFFF"/>
                </a:highlight>
                <a:latin typeface="IBM Plex Sans"/>
                <a:cs typeface="Arial"/>
              </a:rPr>
              <a:t>Conclusion</a:t>
            </a:r>
            <a:endParaRPr lang="en-US">
              <a:latin typeface="IBM Plex Sans"/>
            </a:endParaRPr>
          </a:p>
          <a:p>
            <a:r>
              <a:rPr lang="en-US" sz="2200" dirty="0">
                <a:solidFill>
                  <a:srgbClr val="222222"/>
                </a:solidFill>
                <a:highlight>
                  <a:srgbClr val="FFFFFF"/>
                </a:highlight>
                <a:latin typeface="IBM Plex Sans"/>
                <a:cs typeface="Arial"/>
              </a:rPr>
              <a:t> </a:t>
            </a:r>
            <a:r>
              <a:rPr lang="en-US" sz="2200" b="1">
                <a:solidFill>
                  <a:srgbClr val="222222"/>
                </a:solidFill>
                <a:highlight>
                  <a:srgbClr val="FFFFFF"/>
                </a:highlight>
                <a:latin typeface="IBM Plex Sans"/>
                <a:cs typeface="Arial"/>
              </a:rPr>
              <a:t>Predictive Performance:</a:t>
            </a:r>
            <a:r>
              <a:rPr lang="en-US" sz="2200">
                <a:solidFill>
                  <a:srgbClr val="222222"/>
                </a:solidFill>
                <a:highlight>
                  <a:srgbClr val="FFFFFF"/>
                </a:highlight>
                <a:latin typeface="IBM Plex Sans"/>
                <a:cs typeface="Arial"/>
              </a:rPr>
              <a:t> Achieved 83.33% accuracy in predicting first-stage Falcon 9 booster recovery using machine learning models.</a:t>
            </a:r>
            <a:endParaRPr lang="en-US">
              <a:latin typeface="IBM Plex Sans"/>
            </a:endParaRPr>
          </a:p>
          <a:p>
            <a:r>
              <a:rPr lang="en-US" sz="2200" dirty="0">
                <a:solidFill>
                  <a:srgbClr val="222222"/>
                </a:solidFill>
                <a:highlight>
                  <a:srgbClr val="FFFFFF"/>
                </a:highlight>
                <a:latin typeface="IBM Plex Sans"/>
                <a:cs typeface="Arial"/>
              </a:rPr>
              <a:t> </a:t>
            </a:r>
            <a:r>
              <a:rPr lang="en-US" sz="2200" b="1">
                <a:solidFill>
                  <a:srgbClr val="222222"/>
                </a:solidFill>
                <a:highlight>
                  <a:srgbClr val="FFFFFF"/>
                </a:highlight>
                <a:latin typeface="IBM Plex Sans"/>
                <a:cs typeface="Arial"/>
              </a:rPr>
              <a:t>Key Drivers:</a:t>
            </a:r>
            <a:r>
              <a:rPr lang="en-US" sz="2200">
                <a:solidFill>
                  <a:srgbClr val="222222"/>
                </a:solidFill>
                <a:highlight>
                  <a:srgbClr val="FFFFFF"/>
                </a:highlight>
                <a:latin typeface="IBM Plex Sans"/>
                <a:cs typeface="Arial"/>
              </a:rPr>
              <a:t> Payload mass (specifically in the 2,000–4,000 kg range) and launch site selection are critical indicators of landing success.</a:t>
            </a:r>
            <a:endParaRPr lang="en-US">
              <a:latin typeface="IBM Plex Sans"/>
            </a:endParaRPr>
          </a:p>
          <a:p>
            <a:r>
              <a:rPr lang="en-US" sz="2200" dirty="0">
                <a:solidFill>
                  <a:srgbClr val="222222"/>
                </a:solidFill>
                <a:highlight>
                  <a:srgbClr val="FFFFFF"/>
                </a:highlight>
                <a:latin typeface="IBM Plex Sans"/>
                <a:cs typeface="Arial"/>
              </a:rPr>
              <a:t> </a:t>
            </a:r>
            <a:r>
              <a:rPr lang="en-US" sz="2200" b="1">
                <a:solidFill>
                  <a:srgbClr val="222222"/>
                </a:solidFill>
                <a:highlight>
                  <a:srgbClr val="FFFFFF"/>
                </a:highlight>
                <a:latin typeface="IBM Plex Sans"/>
                <a:cs typeface="Arial"/>
              </a:rPr>
              <a:t>Business Value:</a:t>
            </a:r>
            <a:r>
              <a:rPr lang="en-US" sz="2200">
                <a:solidFill>
                  <a:srgbClr val="222222"/>
                </a:solidFill>
                <a:highlight>
                  <a:srgbClr val="FFFFFF"/>
                </a:highlight>
                <a:latin typeface="IBM Plex Sans"/>
                <a:cs typeface="Arial"/>
              </a:rPr>
              <a:t> Accurate landing predictions allow SpaceX to price launch contracts competitively ($62M vs $165M market baseline) while maintaining operational profitability.</a:t>
            </a:r>
            <a:endParaRPr lang="en-US">
              <a:latin typeface="IBM Plex Sans"/>
            </a:endParaRPr>
          </a:p>
          <a:p>
            <a:pPr marL="0" indent="0">
              <a:buNone/>
            </a:pPr>
            <a:br>
              <a:rPr lang="en-US" dirty="0"/>
            </a:br>
            <a:endParaRPr lang="en-US"/>
          </a:p>
        </p:txBody>
      </p:sp>
      <p:sp>
        <p:nvSpPr>
          <p:cNvPr id="2" name="TextBox 1">
            <a:extLst>
              <a:ext uri="{FF2B5EF4-FFF2-40B4-BE49-F238E27FC236}">
                <a16:creationId xmlns:a16="http://schemas.microsoft.com/office/drawing/2014/main" id="{F0CB8A05-3035-109A-840D-6D8E8EE8223B}"/>
              </a:ext>
            </a:extLst>
          </p:cNvPr>
          <p:cNvSpPr txBox="1"/>
          <p:nvPr/>
        </p:nvSpPr>
        <p:spPr>
          <a:xfrm>
            <a:off x="829413" y="738527"/>
            <a:ext cx="81580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CONCLUSION &amp; FINAL TAKEAWAYS</a:t>
            </a:r>
          </a:p>
        </p:txBody>
      </p:sp>
    </p:spTree>
    <p:custDataLst>
      <p:tags r:id="rId1"/>
    </p:custDataLst>
    <p:extLst>
      <p:ext uri="{BB962C8B-B14F-4D97-AF65-F5344CB8AC3E}">
        <p14:creationId xmlns:p14="http://schemas.microsoft.com/office/powerpoint/2010/main" val="1935373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874945" y="383051"/>
            <a:ext cx="10527635" cy="1015447"/>
          </a:xfrm>
        </p:spPr>
        <p:txBody>
          <a:bodyPr anchor="ctr">
            <a:normAutofit/>
          </a:bodyPr>
          <a:lstStyle/>
          <a:p>
            <a:r>
              <a:rPr lang="en-US" sz="2400">
                <a:latin typeface="IBM Plex Sans SemiBold"/>
              </a:rPr>
              <a:t>EXPLORATORY DATA ANALYSIS – SUCCESS RATE VS. ORBIT TYPE</a:t>
            </a:r>
            <a:endParaRPr lang="en-US" sz="2400"/>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1411665"/>
            <a:ext cx="10525371" cy="4688007"/>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None/>
            </a:pPr>
            <a:endParaRPr lang="en-US" sz="2400" dirty="0">
              <a:solidFill>
                <a:srgbClr val="222222"/>
              </a:solidFill>
              <a:highlight>
                <a:srgbClr val="FFFFFF"/>
              </a:highlight>
              <a:latin typeface="Arial"/>
              <a:cs typeface="Arial"/>
            </a:endParaRPr>
          </a:p>
          <a:p>
            <a:pPr>
              <a:buNone/>
            </a:pPr>
            <a:endParaRPr lang="en-US" sz="2000" b="1" dirty="0">
              <a:solidFill>
                <a:srgbClr val="222222"/>
              </a:solidFill>
              <a:highlight>
                <a:srgbClr val="FFFFFF"/>
              </a:highlight>
              <a:latin typeface="Arial"/>
              <a:cs typeface="Arial"/>
            </a:endParaRPr>
          </a:p>
          <a:p>
            <a:pPr>
              <a:buNone/>
            </a:pPr>
            <a:r>
              <a:rPr lang="en-US">
                <a:solidFill>
                  <a:srgbClr val="222222"/>
                </a:solidFill>
                <a:highlight>
                  <a:srgbClr val="FFFFFF"/>
                </a:highlight>
                <a:latin typeface="IBM Plex Sans"/>
                <a:cs typeface="Arial"/>
              </a:rPr>
              <a:t>Exploratory Data Analysis (EDA)</a:t>
            </a:r>
            <a:endParaRPr lang="en-US">
              <a:latin typeface="IBM Plex Sans"/>
            </a:endParaRPr>
          </a:p>
          <a:p>
            <a:pPr>
              <a:buNone/>
            </a:pPr>
            <a:r>
              <a:rPr lang="en-US" dirty="0">
                <a:solidFill>
                  <a:srgbClr val="222222"/>
                </a:solidFill>
                <a:highlight>
                  <a:srgbClr val="FFFFFF"/>
                </a:highlight>
                <a:latin typeface="IBM Plex Sans"/>
                <a:cs typeface="Arial"/>
              </a:rPr>
              <a:t> </a:t>
            </a:r>
            <a:r>
              <a:rPr lang="en-US">
                <a:solidFill>
                  <a:srgbClr val="222222"/>
                </a:solidFill>
                <a:highlight>
                  <a:srgbClr val="FFFFFF"/>
                </a:highlight>
                <a:latin typeface="IBM Plex Sans"/>
                <a:cs typeface="Arial"/>
              </a:rPr>
              <a:t>Key Observations:</a:t>
            </a:r>
            <a:endParaRPr lang="en-US">
              <a:latin typeface="IBM Plex Sans"/>
            </a:endParaRPr>
          </a:p>
          <a:p>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100% Success Rate Orbits:</a:t>
            </a:r>
            <a:r>
              <a:rPr lang="en-US">
                <a:solidFill>
                  <a:srgbClr val="222222"/>
                </a:solidFill>
                <a:highlight>
                  <a:srgbClr val="FFFFFF"/>
                </a:highlight>
                <a:latin typeface="IBM Plex Sans"/>
                <a:cs typeface="Arial"/>
              </a:rPr>
              <a:t> Missions targeting </a:t>
            </a:r>
            <a:r>
              <a:rPr lang="en-US" b="1">
                <a:solidFill>
                  <a:srgbClr val="222222"/>
                </a:solidFill>
                <a:highlight>
                  <a:srgbClr val="FFFFFF"/>
                </a:highlight>
                <a:latin typeface="IBM Plex Sans"/>
                <a:cs typeface="Arial"/>
              </a:rPr>
              <a:t>ES-L1</a:t>
            </a:r>
            <a:r>
              <a:rPr lang="en-US">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GEO</a:t>
            </a:r>
            <a:r>
              <a:rPr lang="en-US">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HEO</a:t>
            </a:r>
            <a:r>
              <a:rPr lang="en-US">
                <a:solidFill>
                  <a:srgbClr val="222222"/>
                </a:solidFill>
                <a:highlight>
                  <a:srgbClr val="FFFFFF"/>
                </a:highlight>
                <a:latin typeface="IBM Plex Sans"/>
                <a:cs typeface="Arial"/>
              </a:rPr>
              <a:t>, and </a:t>
            </a:r>
            <a:r>
              <a:rPr lang="en-US" b="1">
                <a:solidFill>
                  <a:srgbClr val="222222"/>
                </a:solidFill>
                <a:highlight>
                  <a:srgbClr val="FFFFFF"/>
                </a:highlight>
                <a:latin typeface="IBM Plex Sans"/>
                <a:cs typeface="Arial"/>
              </a:rPr>
              <a:t>SSO</a:t>
            </a:r>
            <a:r>
              <a:rPr lang="en-US">
                <a:solidFill>
                  <a:srgbClr val="222222"/>
                </a:solidFill>
                <a:highlight>
                  <a:srgbClr val="FFFFFF"/>
                </a:highlight>
                <a:latin typeface="IBM Plex Sans"/>
                <a:cs typeface="Arial"/>
              </a:rPr>
              <a:t> achieved a 100% landing success rate.</a:t>
            </a:r>
            <a:endParaRPr lang="en-US">
              <a:latin typeface="IBM Plex Sans"/>
            </a:endParaRPr>
          </a:p>
          <a:p>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Moderate Success Rates:</a:t>
            </a:r>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LEO</a:t>
            </a:r>
            <a:r>
              <a:rPr lang="en-US">
                <a:solidFill>
                  <a:srgbClr val="222222"/>
                </a:solidFill>
                <a:highlight>
                  <a:srgbClr val="FFFFFF"/>
                </a:highlight>
                <a:latin typeface="IBM Plex Sans"/>
                <a:cs typeface="Arial"/>
              </a:rPr>
              <a:t> (~71%), </a:t>
            </a:r>
            <a:r>
              <a:rPr lang="en-US" b="1">
                <a:solidFill>
                  <a:srgbClr val="222222"/>
                </a:solidFill>
                <a:highlight>
                  <a:srgbClr val="FFFFFF"/>
                </a:highlight>
                <a:latin typeface="IBM Plex Sans"/>
                <a:cs typeface="Arial"/>
              </a:rPr>
              <a:t>VLEO</a:t>
            </a:r>
            <a:r>
              <a:rPr lang="en-US">
                <a:solidFill>
                  <a:srgbClr val="222222"/>
                </a:solidFill>
                <a:highlight>
                  <a:srgbClr val="FFFFFF"/>
                </a:highlight>
                <a:latin typeface="IBM Plex Sans"/>
                <a:cs typeface="Arial"/>
              </a:rPr>
              <a:t> (~85%), and </a:t>
            </a:r>
            <a:r>
              <a:rPr lang="en-US" b="1">
                <a:solidFill>
                  <a:srgbClr val="222222"/>
                </a:solidFill>
                <a:highlight>
                  <a:srgbClr val="FFFFFF"/>
                </a:highlight>
                <a:latin typeface="IBM Plex Sans"/>
                <a:cs typeface="Arial"/>
              </a:rPr>
              <a:t>ISS</a:t>
            </a:r>
            <a:r>
              <a:rPr lang="en-US">
                <a:solidFill>
                  <a:srgbClr val="222222"/>
                </a:solidFill>
                <a:highlight>
                  <a:srgbClr val="FFFFFF"/>
                </a:highlight>
                <a:latin typeface="IBM Plex Sans"/>
                <a:cs typeface="Arial"/>
              </a:rPr>
              <a:t> (~62%) showed high-to-moderate success rates as launch techniques matured over time.</a:t>
            </a:r>
            <a:endParaRPr lang="en-US">
              <a:latin typeface="IBM Plex Sans"/>
            </a:endParaRPr>
          </a:p>
          <a:p>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Challenging Orbits:</a:t>
            </a:r>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GTO</a:t>
            </a:r>
            <a:r>
              <a:rPr lang="en-US">
                <a:solidFill>
                  <a:srgbClr val="222222"/>
                </a:solidFill>
                <a:highlight>
                  <a:srgbClr val="FFFFFF"/>
                </a:highlight>
                <a:latin typeface="IBM Plex Sans"/>
                <a:cs typeface="Arial"/>
              </a:rPr>
              <a:t> had a lower success rate (~52%) due to higher payload masses and higher re-entry speeds required for geostationary transfer.</a:t>
            </a:r>
            <a:endParaRPr lang="en-US">
              <a:latin typeface="IBM Plex Sans"/>
            </a:endParaRPr>
          </a:p>
          <a:p>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Lowest Success Rate:</a:t>
            </a:r>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SO</a:t>
            </a:r>
            <a:r>
              <a:rPr lang="en-US">
                <a:solidFill>
                  <a:srgbClr val="222222"/>
                </a:solidFill>
                <a:highlight>
                  <a:srgbClr val="FFFFFF"/>
                </a:highlight>
                <a:latin typeface="IBM Plex Sans"/>
                <a:cs typeface="Arial"/>
              </a:rPr>
              <a:t> (Polar Orbit) had a 0% success rate during early test launches.</a:t>
            </a:r>
            <a:endParaRPr lang="en-US">
              <a:latin typeface="IBM Plex Sans"/>
            </a:endParaRPr>
          </a:p>
          <a:p>
            <a:pPr indent="0">
              <a:buNone/>
            </a:pPr>
            <a:r>
              <a:rPr lang="en-US" dirty="0">
                <a:solidFill>
                  <a:srgbClr val="222222"/>
                </a:solidFill>
                <a:highlight>
                  <a:srgbClr val="FFFFFF"/>
                </a:highlight>
                <a:latin typeface="IBM Plex Sans"/>
                <a:cs typeface="Arial"/>
              </a:rPr>
              <a:t> </a:t>
            </a:r>
            <a:r>
              <a:rPr lang="en-US" b="1">
                <a:solidFill>
                  <a:srgbClr val="222222"/>
                </a:solidFill>
                <a:highlight>
                  <a:srgbClr val="FFFFFF"/>
                </a:highlight>
                <a:latin typeface="IBM Plex Sans"/>
                <a:cs typeface="Arial"/>
              </a:rPr>
              <a:t>Strategic Insight:</a:t>
            </a:r>
            <a:endParaRPr lang="en-US">
              <a:latin typeface="IBM Plex Sans"/>
            </a:endParaRPr>
          </a:p>
          <a:p>
            <a:r>
              <a:rPr lang="en-US">
                <a:solidFill>
                  <a:srgbClr val="222222"/>
                </a:solidFill>
                <a:highlight>
                  <a:srgbClr val="FFFFFF"/>
                </a:highlight>
                <a:latin typeface="IBM Plex Sans"/>
                <a:cs typeface="Arial"/>
              </a:rPr>
              <a:t>Orbit selection directly affects the booster’s re-entry velocity and remaining fuel, which dictates whether a drone ship or ground pad landing is feasible.</a:t>
            </a:r>
            <a:endParaRPr lang="en-US">
              <a:latin typeface="IBM Plex Sans"/>
            </a:endParaRPr>
          </a:p>
          <a:p>
            <a:pPr>
              <a:buNone/>
            </a:pPr>
            <a:br>
              <a:rPr lang="en-US" dirty="0"/>
            </a:br>
            <a:endParaRPr lang="en-US"/>
          </a:p>
        </p:txBody>
      </p:sp>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IBM DEVELOPER 2018 WHITE BACKGROUND" val="AcyDFp8V"/>
  <p:tag name="ARTICULATE_DESIGN_ID_SLIDE_TEMPLATE_SKILL_NETWORK" val="762xjmeN"/>
  <p:tag name="ARTICULATE_PROJECT_OPEN" val="0"/>
  <p:tag name="ARTICULATE_SLIDE_COUNT" val="18"/>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BEAB06F8-DBB4-44C7-AF84-8B098C8B039F}">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f80a141d-92ca-4d3d-9308-f7e7b1d44ce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IBM PPT Temp Jan 2023</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SLIDE_TEMPLATE_skill_network</vt:lpstr>
      <vt:lpstr>Predicting SpaceX Falcon 9 First-Stage Landing Success</vt:lpstr>
      <vt:lpstr>PowerPoint Presentation</vt:lpstr>
      <vt:lpstr>EXECUTIVE SUMMARY</vt:lpstr>
      <vt:lpstr>INTRODUCTION</vt:lpstr>
      <vt:lpstr>METHODOLOGY</vt:lpstr>
      <vt:lpstr>RESULTS</vt:lpstr>
      <vt:lpstr> EDA WITH SQL</vt:lpstr>
      <vt:lpstr> INTERACTIVE MAP WITH FOLIUM</vt:lpstr>
      <vt:lpstr>LAUNCH SUCCESS BY SITE(FOLIUM)</vt:lpstr>
      <vt:lpstr>LAUNCH SITE PROXIMITIES(FOLIUM)</vt:lpstr>
      <vt:lpstr>DASHBOARD</vt:lpstr>
      <vt:lpstr>DASHBOARD TAB 1</vt:lpstr>
      <vt:lpstr>DASHBOARD TAB 2</vt:lpstr>
      <vt:lpstr>DISCUSSION/ FINDINGS</vt:lpstr>
      <vt:lpstr> DATA PREPARATION AND PIPELINE</vt:lpstr>
      <vt:lpstr>CONCLUSION MATRIX EVALUATION</vt:lpstr>
      <vt:lpstr>APPENDIX</vt:lpstr>
      <vt:lpstr> </vt:lpstr>
      <vt:lpstr>EXPLORATORY DATA ANALYSIS – SUCCESS RATE VS. ORBIT TYPE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revision>479</cp:revision>
  <dcterms:created xsi:type="dcterms:W3CDTF">2024-10-30T05:40:03Z</dcterms:created>
  <dcterms:modified xsi:type="dcterms:W3CDTF">2026-10-17T23:28:03Z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